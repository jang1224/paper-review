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57" r:id="rId7"/>
    <p:sldId id="260" r:id="rId8"/>
    <p:sldId id="258" r:id="rId9"/>
    <p:sldId id="261" r:id="rId10"/>
    <p:sldId id="263" r:id="rId11"/>
    <p:sldId id="264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4" y="23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Vision Transformers for Dense Prediction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2022158034 </a:t>
            </a:r>
            <a:r>
              <a:rPr lang="ko-KR" altLang="en-US" dirty="0"/>
              <a:t>조장혁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1DCA6-DC53-70F9-F495-9CE3AA82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모델 문제점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F5CF5-1081-0B25-F03B-89C13DCE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CNN</a:t>
            </a:r>
            <a:r>
              <a:rPr lang="ko-KR" altLang="en-US" dirty="0"/>
              <a:t>은 입력 이미지를 점진적으로 다운 </a:t>
            </a:r>
            <a:r>
              <a:rPr lang="ko-KR" altLang="en-US" dirty="0" err="1"/>
              <a:t>샘플링하여</a:t>
            </a:r>
            <a:r>
              <a:rPr lang="ko-KR" altLang="en-US" dirty="0"/>
              <a:t> 다중 스케일 특징을 추출함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다운 샘플링은 수용 영역을 점진적으로 확장하고</a:t>
            </a:r>
            <a:r>
              <a:rPr lang="en-US" altLang="ko-KR" dirty="0"/>
              <a:t>, </a:t>
            </a:r>
            <a:r>
              <a:rPr lang="ko-KR" altLang="en-US" dirty="0" err="1"/>
              <a:t>저레벨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를 추상적인 </a:t>
            </a:r>
            <a:r>
              <a:rPr lang="ko-KR" altLang="en-US" dirty="0" err="1"/>
              <a:t>고레벨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로 변환하며</a:t>
            </a:r>
            <a:r>
              <a:rPr lang="en-US" altLang="ko-KR" dirty="0"/>
              <a:t>, </a:t>
            </a:r>
            <a:r>
              <a:rPr lang="ko-KR" altLang="en-US" dirty="0"/>
              <a:t>동시에 메모리와 </a:t>
            </a:r>
            <a:r>
              <a:rPr lang="ko-KR" altLang="en-US" dirty="0" err="1"/>
              <a:t>계산량을</a:t>
            </a:r>
            <a:r>
              <a:rPr lang="ko-KR" altLang="en-US" dirty="0"/>
              <a:t> 관리하기 쉽게 유지할 수 있게 </a:t>
            </a:r>
            <a:r>
              <a:rPr lang="ko-KR" altLang="en-US" dirty="0" err="1"/>
              <a:t>해줌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&gt;&gt;But, </a:t>
            </a:r>
            <a:r>
              <a:rPr lang="ko-KR" altLang="en-US" dirty="0"/>
              <a:t>밀집 예측</a:t>
            </a:r>
            <a:r>
              <a:rPr lang="en-US" altLang="ko-KR" dirty="0"/>
              <a:t>(dense prediction)</a:t>
            </a:r>
            <a:r>
              <a:rPr lang="ko-KR" altLang="en-US" dirty="0"/>
              <a:t>는 픽셀 단위의 정밀한 예측이 요구되는데 모델의 깊은 층으로 갈 수록 해상도와 정밀도 손실됨</a:t>
            </a:r>
          </a:p>
        </p:txBody>
      </p:sp>
    </p:spTree>
    <p:extLst>
      <p:ext uri="{BB962C8B-B14F-4D97-AF65-F5344CB8AC3E}">
        <p14:creationId xmlns:p14="http://schemas.microsoft.com/office/powerpoint/2010/main" val="140409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F91DA-FDAB-78C4-B1E4-0F2A036D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DPT</a:t>
            </a:r>
            <a:r>
              <a:rPr lang="ko-KR" altLang="en-US" dirty="0"/>
              <a:t> 아키텍처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C18CACA-4B60-D001-03E2-0352EC668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777" y="1406269"/>
            <a:ext cx="9225092" cy="3013087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9970BCD-3318-B582-C584-65BBA1F3D3B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Vit-Base, Vit-Large : </a:t>
            </a:r>
            <a:r>
              <a:rPr lang="ko-KR" altLang="en-US" dirty="0"/>
              <a:t>패치 기반</a:t>
            </a:r>
            <a:endParaRPr lang="en-US" altLang="ko-KR" dirty="0"/>
          </a:p>
          <a:p>
            <a:r>
              <a:rPr lang="en-US" altLang="ko-KR" dirty="0"/>
              <a:t>Vit-Hybrid : ResNet50 </a:t>
            </a:r>
            <a:r>
              <a:rPr lang="ko-KR" altLang="en-US" dirty="0"/>
              <a:t>백본 사용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864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8AFF3-577F-29B2-9193-9F9BA2B8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인코더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D21D2A-7164-720C-7468-116CED0E5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>
              <a:spcAft>
                <a:spcPts val="800"/>
              </a:spcAft>
              <a:buNone/>
            </a:pP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DF4674D-5F67-0D92-08CE-D6DBF969ABCC}"/>
              </a:ext>
            </a:extLst>
          </p:cNvPr>
          <p:cNvSpPr txBox="1">
            <a:spLocks/>
          </p:cNvSpPr>
          <p:nvPr/>
        </p:nvSpPr>
        <p:spPr>
          <a:xfrm>
            <a:off x="838200" y="196056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ViT</a:t>
            </a:r>
            <a:r>
              <a:rPr lang="ko-KR" altLang="en-US" dirty="0"/>
              <a:t>는 입력 이미지를 패치로 분할해 토큰으로 표현하며</a:t>
            </a:r>
            <a:r>
              <a:rPr lang="en-US" altLang="ko-KR" dirty="0"/>
              <a:t>, </a:t>
            </a:r>
            <a:r>
              <a:rPr lang="ko-KR" altLang="en-US" dirty="0"/>
              <a:t>각 패치가 단어처럼 </a:t>
            </a:r>
            <a:r>
              <a:rPr lang="ko-KR" altLang="en-US" dirty="0" err="1"/>
              <a:t>다뤄짐</a:t>
            </a:r>
            <a:endParaRPr lang="en-US" altLang="ko-KR" dirty="0"/>
          </a:p>
          <a:p>
            <a:r>
              <a:rPr lang="ko-KR" altLang="en-US" dirty="0"/>
              <a:t>이 패치들은 </a:t>
            </a:r>
            <a:r>
              <a:rPr lang="en-US" altLang="ko-KR" dirty="0"/>
              <a:t>MHSA</a:t>
            </a:r>
            <a:r>
              <a:rPr lang="ko-KR" altLang="en-US" dirty="0"/>
              <a:t>를 통해 처리되며</a:t>
            </a:r>
            <a:r>
              <a:rPr lang="en-US" altLang="ko-KR" dirty="0"/>
              <a:t>, </a:t>
            </a:r>
            <a:r>
              <a:rPr lang="ko-KR" altLang="en-US" dirty="0"/>
              <a:t>글로벌한 수용 영역을 가진 </a:t>
            </a:r>
            <a:r>
              <a:rPr lang="en-US" altLang="ko-KR" dirty="0"/>
              <a:t>feature </a:t>
            </a:r>
            <a:r>
              <a:rPr lang="ko-KR" altLang="en-US" dirty="0"/>
              <a:t>표현으로 변환됨</a:t>
            </a:r>
            <a:endParaRPr lang="en-US" altLang="ko-KR" dirty="0"/>
          </a:p>
          <a:p>
            <a:r>
              <a:rPr lang="ko-KR" altLang="en-US" dirty="0"/>
              <a:t>여기서 토큰 수는 처음부터 끝까지 일정하게 유지됨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318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0CEE1-B551-70E4-C01A-9FEF8F8F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디코더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062D92A-CEF4-64E2-86F4-C8D5D91F236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토큰들을 다시 이미지 형태의 </a:t>
            </a:r>
            <a:r>
              <a:rPr lang="en-US" altLang="ko-KR" dirty="0"/>
              <a:t>feature </a:t>
            </a:r>
            <a:r>
              <a:rPr lang="ko-KR" altLang="en-US" dirty="0" err="1"/>
              <a:t>맵으로</a:t>
            </a:r>
            <a:r>
              <a:rPr lang="ko-KR" altLang="en-US" dirty="0"/>
              <a:t> 재구성 후 점진적으로 결합하고 업 샘플링해 최종 고해상도 밀집 예측을 생성함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위해 </a:t>
            </a:r>
            <a:r>
              <a:rPr lang="en-US" altLang="ko-KR" dirty="0"/>
              <a:t>3</a:t>
            </a:r>
            <a:r>
              <a:rPr lang="ko-KR" altLang="en-US" dirty="0"/>
              <a:t>단계로 구성된 </a:t>
            </a:r>
            <a:r>
              <a:rPr lang="en-US" altLang="ko-KR" dirty="0"/>
              <a:t>Reassemble </a:t>
            </a:r>
            <a:r>
              <a:rPr lang="ko-KR" altLang="en-US" dirty="0"/>
              <a:t>연산을 사용함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lvl="8"/>
            <a:r>
              <a:rPr lang="ko-KR" altLang="en-US" dirty="0"/>
              <a:t>       </a:t>
            </a:r>
            <a:endParaRPr lang="en-US" altLang="ko-KR" dirty="0"/>
          </a:p>
          <a:p>
            <a:pPr lvl="8"/>
            <a:r>
              <a:rPr lang="en-US" altLang="ko-KR" dirty="0"/>
              <a:t>      readout</a:t>
            </a:r>
            <a:r>
              <a:rPr lang="ko-KR" altLang="en-US" dirty="0"/>
              <a:t> </a:t>
            </a:r>
            <a:r>
              <a:rPr lang="en-US" altLang="ko-KR" dirty="0"/>
              <a:t>token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748C95-19D4-B1DC-BDDE-74FB38F97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17382"/>
            <a:ext cx="9921917" cy="6232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75F1DB-FBF3-260F-1EEB-6D95F1F12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34" y="3808086"/>
            <a:ext cx="4354491" cy="4933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C86FC5A-14C8-AF04-33B5-EB0F0A088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68921"/>
            <a:ext cx="6112507" cy="623236"/>
          </a:xfrm>
          <a:prstGeom prst="rect">
            <a:avLst/>
          </a:prstGeom>
        </p:spPr>
      </p:pic>
      <p:pic>
        <p:nvPicPr>
          <p:cNvPr id="8" name="그림 7" descr="폰트, 텍스트, 화이트, 타이포그래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D068C1B-B28C-A968-76B9-DAB1F2FCB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082236"/>
            <a:ext cx="7130989" cy="107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28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0ADA3-F3F9-5499-3F48-13B213CA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디코더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789F15-B694-8094-4493-41D20B331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1101" y="1876226"/>
            <a:ext cx="104226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ViT-Large에서는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층 {5, 12, 18, 24}**에서 토큰을 재조립함.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ViT-Base에서는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층 {3, 6, 9, 12} 사용.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ViT-Hybrid에서는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ResNet50의 첫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번째와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두 번째 블록의 출력(R0, R1)과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transformer의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층 {9, 12} 사용.</a:t>
            </a:r>
            <a:endParaRPr kumimoji="0" lang="en-US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dirty="0">
                <a:latin typeface="Arial" panose="020B0604020202020204" pitchFamily="34" charset="0"/>
              </a:rPr>
              <a:t>추출된 </a:t>
            </a:r>
            <a:r>
              <a:rPr lang="en-US" altLang="ko-KR" dirty="0">
                <a:latin typeface="Arial" panose="020B0604020202020204" pitchFamily="34" charset="0"/>
              </a:rPr>
              <a:t>feature </a:t>
            </a:r>
            <a:r>
              <a:rPr lang="ko-KR" altLang="en-US" dirty="0" err="1">
                <a:latin typeface="Arial" panose="020B0604020202020204" pitchFamily="34" charset="0"/>
              </a:rPr>
              <a:t>맵들은</a:t>
            </a:r>
            <a:r>
              <a:rPr lang="ko-KR" altLang="en-US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RefineNet</a:t>
            </a:r>
            <a:r>
              <a:rPr lang="en-US" altLang="ko-KR" dirty="0">
                <a:latin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</a:rPr>
              <a:t>기반의 </a:t>
            </a:r>
            <a:r>
              <a:rPr lang="en-US" altLang="ko-KR" dirty="0">
                <a:latin typeface="Arial" panose="020B0604020202020204" pitchFamily="34" charset="0"/>
              </a:rPr>
              <a:t>feature fusion </a:t>
            </a:r>
            <a:r>
              <a:rPr lang="ko-KR" altLang="en-US" dirty="0">
                <a:latin typeface="Arial" panose="020B0604020202020204" pitchFamily="34" charset="0"/>
              </a:rPr>
              <a:t>블록을 사용하여 결합</a:t>
            </a:r>
            <a:r>
              <a:rPr lang="en-US" altLang="ko-KR" dirty="0">
                <a:latin typeface="Arial" panose="020B0604020202020204" pitchFamily="34" charset="0"/>
              </a:rPr>
              <a:t>(fusion)</a:t>
            </a:r>
            <a:r>
              <a:rPr lang="ko-KR" altLang="en-US" dirty="0">
                <a:latin typeface="Arial" panose="020B0604020202020204" pitchFamily="34" charset="0"/>
              </a:rPr>
              <a:t>함</a:t>
            </a:r>
            <a:r>
              <a:rPr lang="en-US" altLang="ko-KR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&gt;&gt; 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최종 표현은 입력 이미지의 절반 해상도를 가지며</a:t>
            </a:r>
            <a:endParaRPr kumimoji="0" lang="en-US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Task-</a:t>
            </a:r>
            <a:r>
              <a:rPr kumimoji="0" lang="en-US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specifir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head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연결하여 최종 </a:t>
            </a:r>
            <a:r>
              <a:rPr kumimoji="0" lang="ko-KR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예측값을</a:t>
            </a:r>
            <a:r>
              <a:rPr kumimoji="0" lang="ko-KR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생성함</a:t>
            </a:r>
            <a:r>
              <a:rPr kumimoji="0" lang="en-US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172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23BA7-0930-F5CE-C165-F1938D31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</a:p>
        </p:txBody>
      </p:sp>
      <p:pic>
        <p:nvPicPr>
          <p:cNvPr id="4" name="내용 개체 틀 3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226EFE-547B-03AB-B5FE-8A209C421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794" y="2219156"/>
            <a:ext cx="8456412" cy="275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2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BBAA-A3B5-31E3-569C-00B3FA362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0CE28-5326-FB2C-5E44-09BB5AAC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</a:p>
        </p:txBody>
      </p:sp>
      <p:pic>
        <p:nvPicPr>
          <p:cNvPr id="6" name="내용 개체 틀 5" descr="텍스트, 폰트, 스크린샷, 영수증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558564-EF61-3F87-0879-864FBBC7F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786" y="2658102"/>
            <a:ext cx="5256214" cy="2519731"/>
          </a:xfrm>
          <a:prstGeom prst="rect">
            <a:avLst/>
          </a:prstGeom>
        </p:spPr>
      </p:pic>
      <p:pic>
        <p:nvPicPr>
          <p:cNvPr id="7" name="그림 6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1FEEF6E-AF60-9143-DD21-61FC8D38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17056"/>
            <a:ext cx="5458203" cy="200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0602A-7D68-57E7-D017-A6F0AA3F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ACFDE6-BF40-7094-19C1-CB4073941C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575" y="1690688"/>
            <a:ext cx="4639322" cy="399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4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5DA294FFD5784787D5AB72E0DED182" ma:contentTypeVersion="5" ma:contentTypeDescription="새 문서를 만듭니다." ma:contentTypeScope="" ma:versionID="1947bb15c4f475d9e28fdf681c448344">
  <xsd:schema xmlns:xsd="http://www.w3.org/2001/XMLSchema" xmlns:xs="http://www.w3.org/2001/XMLSchema" xmlns:p="http://schemas.microsoft.com/office/2006/metadata/properties" xmlns:ns3="9355d4e4-c342-4770-8d34-c37815e2beaf" targetNamespace="http://schemas.microsoft.com/office/2006/metadata/properties" ma:root="true" ma:fieldsID="2e81d29a5cf4b8812fd158f7b17e1b60" ns3:_="">
    <xsd:import namespace="9355d4e4-c342-4770-8d34-c37815e2be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5d4e4-c342-4770-8d34-c37815e2b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8408B9-4799-4742-86A0-977B1394CE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55d4e4-c342-4770-8d34-c37815e2b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AAC9A9-0D40-42BF-BFE2-C8F44F5312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670500-4732-4AF0-9D8B-93F1B9234FB6}">
  <ds:schemaRefs>
    <ds:schemaRef ds:uri="http://schemas.microsoft.com/office/2006/documentManagement/types"/>
    <ds:schemaRef ds:uri="9355d4e4-c342-4770-8d34-c37815e2beaf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242</Words>
  <Application>Microsoft Office PowerPoint</Application>
  <PresentationFormat>와이드스크린</PresentationFormat>
  <Paragraphs>37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Vision Transformers for Dense Prediction</vt:lpstr>
      <vt:lpstr>기존 모델 문제점</vt:lpstr>
      <vt:lpstr>DPT 아키텍처</vt:lpstr>
      <vt:lpstr>인코더</vt:lpstr>
      <vt:lpstr>디코더</vt:lpstr>
      <vt:lpstr>디코더</vt:lpstr>
      <vt:lpstr>실험</vt:lpstr>
      <vt:lpstr>실험</vt:lpstr>
      <vt:lpstr>실험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조장혁(2022158034)</cp:lastModifiedBy>
  <cp:revision>3</cp:revision>
  <dcterms:created xsi:type="dcterms:W3CDTF">2025-01-07T01:55:57Z</dcterms:created>
  <dcterms:modified xsi:type="dcterms:W3CDTF">2025-05-14T02:14:55Z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0x010100E05DA294FFD5784787D5AB72E0DED182</vt:lpwstr>
  </property>
</Properties>
</file>