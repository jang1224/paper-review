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1" autoAdjust="0"/>
    <p:restoredTop sz="94595" autoAdjust="0"/>
  </p:normalViewPr>
  <p:slideViewPr>
    <p:cSldViewPr snapToGrid="0">
      <p:cViewPr varScale="1">
        <p:scale>
          <a:sx n="83" d="100"/>
          <a:sy n="83" d="100"/>
        </p:scale>
        <p:origin x="-64" y="1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0T07:11:25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1371 1027 24575,'-27'-1'0,"0"-2"0,-28-6 0,-6-1 0,9 1 0,34 5 0,-1 1 0,-21-1 0,22 3 0,1-2 0,-1 0 0,1 0 0,-18-8 0,18 6 0,0 0 0,0 1 0,-1 1 0,-21-2 0,29 5 0,0-2 0,0 1 0,0-1 0,0-1 0,1 0 0,-17-7 0,-6-2 0,1 3 0,-1 2 0,0 1 0,-55-3 0,87 9 0,-40-6 0,1-2 0,0-1 0,-49-19 0,75 23 0,0-1 0,0 0 0,-17-13 0,18 11 0,-1 1 0,0 0 0,-15-6 0,25 12 0,-15-5 0,-31-16 0,44 19 0,0 0 0,0-1 0,0 1 0,0-1 0,1 0 0,-1 0 0,1-1 0,0 1 0,-7-11 0,6 8 0,-1-1 0,0 1 0,0 0 0,-8-6 0,9 9 0,0-1 0,0 0 0,0 0 0,1 0 0,0 0 0,0-1 0,0 0 0,1 0 0,-5-11 0,4 0 0,1 0 0,1 0 0,0 0 0,1 0 0,1 0 0,3-20 0,-2-9 0,0 39 0,-1 0 0,1 0 0,1 0 0,-1 0 0,1 0 0,0 0 0,1 0 0,0 1 0,0-1 0,0 1 0,1 0 0,0 0 0,0 0 0,0 0 0,1 1 0,0 0 0,0 0 0,0 0 0,1 0 0,-1 1 0,1 0 0,0 0 0,8-3 0,0-1 0,0-1 0,0-1 0,15-14 0,-19 16 0,-1 0 0,1 0 0,1 1 0,0 0 0,0 1 0,23-10 0,120-43 0,-153 58 0,10-4 0,0 1 0,0 0 0,0 0 0,0 1 0,0 1 0,21-3 0,-15 3 0,31-6 0,16-3 0,-44 9 0,30-7 0,-31 5 0,-1 1 0,24-1 0,378 3 0,-199 2 0,-211 0 0,1 0 0,-1 0 0,1 1 0,-1 0 0,1 1 0,-1 1 0,0-1 0,0 1 0,-1 1 0,1 0 0,-1 0 0,0 1 0,9 7 0,-6-3 0,-1 1 0,0-1 0,0 2 0,-1 0 0,0 0 0,-1 0 0,-1 1 0,10 19 0,10 14 0,-22-39 0,-1 1 0,0 0 0,0 1 0,-1-1 0,0 1 0,0-1 0,3 14 0,12 57 0,-12-56 0,-1 1 0,-1 0 0,-1 0 0,1 32 0,-6 223 0,1-266 0,-2 0 0,1 0 0,-5 18 0,5-25 0,-1-1 0,0 1 0,0 0 0,0-1 0,-1 0 0,1 1 0,-1-1 0,0 0 0,-7 8 0,7-11 0,0 1 0,-1-1 0,1 0 0,-1 0 0,1 0 0,-5 2 0,-18 10 0,10-2 0,11-9 0,0 1 0,0 0 0,0 1 0,-5 6 0,3-5 0,0 1 0,0-1 0,-1-1 0,0 1 0,0-1 0,-17 8 0,4-2 0,13-8 0,1 0 0,-1 0 0,0-1 0,0 0 0,0 0 0,-1-1 0,1 0 0,-14 0 0,9-1 0,0 1 0,-21 5 0,-1 0 0,0-1 0,-1-2 0,0-1 0,-53-4 0,12 0 0,66 2-115,4 0-135,-1 0 0,0 0 0,1-1 0,-12-2 0,5-2-6576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0T07:11:28.6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1582 941 24575,'-3'0'0,"1"1"0,-1 0 0,1 0 0,0 0 0,-1 0 0,1 1 0,0-1 0,0 0 0,0 1 0,0 0 0,-3 2 0,-16 11 0,-11-5 0,25-8 0,0 0 0,0 0 0,0 1 0,0 0 0,-7 4 0,3-2 0,1 0 0,-1-1 0,0 0 0,0 0 0,-1-1 0,1-1 0,-21 2 0,-13 3 0,6-1 0,-1-3 0,1-1 0,-55-4 0,14 0 0,11 3 0,-75-2 0,78-11 0,25 4 0,-45-13 0,23 2 0,48 13 0,-1 1 0,1 1 0,-26-4 0,13 4 0,-48-14 0,54 11 0,-1 2 0,1 0 0,-40-2 0,57 7 0,-1 0 0,1 0 0,-1 0 0,1 0 0,-1 0 0,1-1 0,0 0 0,-1-1 0,1 1 0,0-1 0,0 0 0,0 0 0,0 0 0,-7-5 0,-1-3 0,1 1 0,1-2 0,0 1 0,0-2 0,1 1 0,-15-24 0,20 28 0,1 1 0,0-1 0,0 0 0,1 0 0,0-1 0,0 1 0,1-1 0,0 1 0,0-1 0,1 0 0,0 0 0,0 1 0,1-13 0,0 6 0,-1-10 0,1 0 0,6-32 0,-5 49 0,1-1 0,0 1 0,0-1 0,1 1 0,0 0 0,0 0 0,0 0 0,1 0 0,0 1 0,1-1 0,7-7 0,8-9 0,-14 15 0,1 0 0,-1 1 0,1 0 0,1 1 0,-1 0 0,1 0 0,10-6 0,129-63 0,-121 65 0,50-13 0,-49 16 0,48-19 0,94-38 0,-156 59 0,-1 1 0,18-4 0,-19 5 0,1 0 0,0-1 0,12-5 0,29-18 0,1 3 0,82-25 0,-120 46 0,-1 1 0,1 0 0,0 1 0,21 1 0,-21 1 0,-1-1 0,1-1 0,0 0 0,18-5 0,-10 1 0,-1 2 0,1 0 0,-1 2 0,33 2 0,37-3 0,-35-9 0,-42 8 0,-1 0 0,25-2 0,168 5 0,-96 1 0,-99 0 0,0 0 0,0 1 0,17 5 0,30 3 0,-30-6 0,1 2 0,0 0 0,35 14 0,-12-4 0,-9-2 0,-1 1 0,46 25 0,-86-38 0,0 0 0,-1 1 0,1-1 0,0 1 0,-1 0 0,0 0 0,0 0 0,0 1 0,0-1 0,0 1 0,-1 0 0,1 0 0,-1-1 0,0 2 0,0-1 0,-1 0 0,1 0 0,-1 0 0,0 1 0,1 5 0,0 10 0,0 0 0,-2-1 0,-2 29 0,1-13 0,2 52 0,-3 61 0,1-145 0,1 1 0,-1-1 0,0 0 0,0 0 0,0 0 0,-1 0 0,1 0 0,-1 0 0,0 0 0,0 0 0,0-1 0,0 1 0,-2 2 0,-37 30 0,13-12 0,20-17 0,0 1 0,0-1 0,-1 0 0,1-1 0,-2 0 0,1-1 0,-13 5 0,-74 18 0,10-4 0,66-17 0,-38 6 0,13-3 0,-83 12 0,86-9 0,29-8 0,0 0 0,0-1 0,-27 3 0,0-4 0,-48 9 0,55-6 0,0-3 0,-61-1 0,-23 0 0,59 9 0,42-6 0,0-1 0,-22 1 0,16-3 0,1 2 0,0 1 0,-31 9 0,32-7 0,-1 0 0,0-2 0,-35 2 0,49-5-114,1-1 1,-1 1-1,1 0 0,0 0 0,-1 0 1,1 1-1,0 0 0,0 0 0,0 1 1,0 0-1,-7 5 0,2-1-6712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0T07:11:30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1 113 24575,'16'0'0,"1"0"0,-1 1 0,31 7 0,-41-7 0,-1 1 0,0 0 0,0 0 0,0 0 0,0 0 0,0 1 0,-1 0 0,1 0 0,-1 1 0,0-1 0,0 1 0,0 0 0,0 0 0,-1 0 0,5 7 0,62 82 0,-67-88 0,7 8 0,0 0 0,-1 0 0,-1 1 0,0 0 0,10 27 0,-6-14 0,1-1 0,21 33 0,-12-21 0,-7-6 0,-12-24 0,1 0 0,0 0 0,0 0 0,0 0 0,1-1 0,7 9 0,-10-14 0,-1-1 0,0 0 0,1 0 0,0 0 0,-1 0 0,1 0 0,-1 0 0,1 0 0,0 0 0,0-1 0,0 1 0,-1-1 0,1 1 0,0-1 0,0 0 0,0 0 0,0 0 0,0 0 0,0 0 0,0 0 0,-1 0 0,1-1 0,0 1 0,0-1 0,0 1 0,-1-1 0,1 0 0,0 0 0,0 0 0,-1 1 0,1-2 0,-1 1 0,1 0 0,1-2 0,1 0 0,-1 1 0,0-1 0,0 0 0,-1 0 0,1 0 0,-1-1 0,1 1 0,-1-1 0,0 1 0,-1-1 0,3-6 0,11-47 0,-14 47 0,1 1 0,1-1 0,-1 1 0,2-1 0,-1 1 0,6-10 0,2-1 0,16-40 0,-11 24 0,-8 15 0,-1 1 0,-1-1 0,0 0 0,3-31 0,-3 19 0,12-35 0,-4 20 0,-2 13-1365,-7 22-5461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0T07:12:18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2371 1691 24575,'-791'0'0,"764"-2"0,1-1 0,-29-6 0,14 2 0,-6-3 0,30 6 0,0 1 0,-30-2 0,-11 5 0,34 1 0,-1-1 0,0-1 0,-36-7 0,11-5 0,30 7 0,-1 1 0,0 1 0,-37-3 0,41 5 0,0 0 0,-1-1 0,2 0 0,-1-2 0,0 0 0,1-1 0,-28-14 0,33 15 0,0 2 0,1-1 0,-1 1 0,-14-1 0,14 2 0,-1 0 0,1-1 0,0-1 0,-13-5 0,4 0 0,-1 2 0,1 0 0,-1 1 0,0 1 0,0 1 0,-24-2 0,41 5 0,1 1 0,0-1 0,-1 0 0,1 0 0,0 0 0,0-1 0,-1 1 0,1-1 0,0 0 0,1 0 0,-1 0 0,-3-3 0,-28-33 0,28 31 0,0-1 0,-1 0 0,-13-10 0,-5-3 0,-32-33 0,-16-13 0,65 59 0,-1 0 0,1-1 0,0 0 0,-6-11 0,5 8 0,0 0 0,-13-12 0,13 14 0,0 0 0,1-1 0,0 0 0,0 0 0,2-1 0,-1 0 0,2 0 0,-1-1 0,-4-15 0,2 5 0,2 10 0,1 0 0,1 0 0,0 0 0,1-1 0,0 1 0,-1-28 0,4 30 0,1 0 0,0 0 0,0 0 0,1 0 0,1 1 0,0-1 0,0 1 0,8-17 0,-3 12 0,0 0 0,2 1 0,-1 0 0,23-24 0,-24 31 0,-1 0 0,1 1 0,16-10 0,15-12 0,119-92 0,-109 76 0,-40 35 0,1 0 0,0 1 0,0-1 0,21-11 0,-22 16 0,0-1 0,0-1 0,-1 1 0,1-1 0,-1-1 0,0 0 0,-1 0 0,8-9 0,-8 8 0,0 2 0,0-1 0,0 1 0,1 0 0,0 0 0,0 1 0,12-6 0,9-2 0,29-9 0,-32 13 0,44-22 0,12-20 0,21-11 0,-92 58 0,1 0 0,-1 1 0,1 0 0,-1 1 0,25-2 0,14-3 0,57-14 0,-75 16 0,-1 1 0,1 2 0,0 0 0,38 5 0,3-1 0,18-4 0,95 5 0,-135 7 0,-38-7 0,0 0 0,18 1 0,0-2 0,-5-1 0,-1 1 0,28 7 0,-33-6 0,-1-1 0,1-1 0,25-1 0,-27 0 0,-1 0 0,1 1 0,-1 0 0,27 7 0,-11-1 0,-1-2 0,1-2 0,0-1 0,0-1 0,34-4 0,10 1 0,-52 3 0,46 9 0,-45-6 0,43 3 0,-45-5 0,0 0 0,0 2 0,-1 1 0,0 1 0,0 1 0,24 11 0,-29-11 0,-3-2 0,-6-2 0,1 1 0,-1-1 0,0 1 0,11 8 0,-17-10 0,0 1 0,0-1 0,0 1 0,0 0 0,-1 0 0,1 0 0,-1 0 0,0 1 0,0-1 0,0 1 0,0-1 0,0 1 0,-1 0 0,2 4 0,1 12 0,-1 1 0,-1-1 0,-1 0 0,-1 1 0,-2 29 0,-1 6 0,3-15 0,-2-1 0,-8 50 0,1-19 0,6-42 0,-7 29 0,-48 148 0,42-147 0,11-39 0,-1 0 0,-9 23 0,11-34 0,1 1 0,0 0 0,-3 17 0,5-19 0,0 0 0,-1-1 0,0 1 0,-1-1 0,1 1 0,-1-1 0,-8 14 0,-100 136 0,98-140 0,-27 27 0,0 0 0,27-29 0,-1 0 0,-1-1 0,0-1 0,-32 22 0,5-8 0,-67 29 0,69-37 0,22-11 0,0-2 0,-37 9 0,44-13 0,-6 2-1365,1-2-5461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0T07:12:19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1 151 24575,'9'0'0,"0"0"0,1 1 0,-1 0 0,0 1 0,13 3 0,-18-4 0,0 1 0,0 0 0,0 0 0,0 0 0,0 0 0,-1 1 0,1-1 0,-1 1 0,0 0 0,0 0 0,0 0 0,0 0 0,4 8 0,83 114 0,-88-122 0,4 3 0,-1 1 0,0-1 0,-1 1 0,0 0 0,0 0 0,0 0 0,-1 1 0,0-1 0,3 10 0,2 12 0,2-1 0,17 34 0,-5-13 0,0-3 0,-16-33 0,0-1 0,0 1 0,-1 0 0,0 0 0,-1 0 0,2 18 0,-5-24 0,0-1 0,1 1 0,0 0 0,4 11 0,-6-16 0,1-1 0,-1 1 0,1-1 0,0 1 0,0-1 0,-1 0 0,1 1 0,0-1 0,0 0 0,0 1 0,1-1 0,-1 0 0,0 0 0,0 0 0,1 0 0,-1 0 0,0 0 0,1-1 0,-1 1 0,1 0 0,-1-1 0,1 1 0,-1-1 0,1 1 0,0-1 0,1 0 0,-1 0 0,-1 0 0,1-1 0,-1 1 0,0-1 0,0 0 0,1 1 0,-1-1 0,0 0 0,0 1 0,0-1 0,1 0 0,-1 0 0,0 0 0,-1 0 0,1 0 0,0-1 0,0 1 0,0 0 0,-1 0 0,1 0 0,0-1 0,-1 1 0,1-2 0,11-35 0,-10 29 0,4-15 0,0 0 0,-1-1 0,-2 0 0,1-32 0,-2 34 0,1 1 0,0 0 0,2-1 0,0 1 0,9-21 0,-3 10 0,5-36 0,-10 37 0,2 0 0,1 0 0,1 0 0,26-53 0,-31 77 0,1 1 0,0 0 0,0 0 0,1 0 0,0 1 0,0 0 0,1 1 0,0-1 0,0 1 0,12-5 0,-2-1 0,-10 7-124,0 0 0,1 1 0,-1 1 0,0-1 0,1 1 0,0 0-1,-1 1 1,1 0 0,0 1 0,12 0 0,-3 0-6702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0T07:12:22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3270 1389 24575,'-3'1'0,"0"0"0,0 1 0,0-1 0,0 1 0,0 0 0,0-1 0,0 1 0,0 1 0,1-1 0,-4 3 0,-8 6 0,8-6 0,0 0 0,0 0 0,1 0 0,0 0 0,-10 13 0,11-12 0,-1 0 0,0-1 0,0 1 0,0-1 0,-1 0 0,-9 6 0,-32 19 0,29-18 0,-1-1 0,0 0 0,0-1 0,-24 8 0,-10-4 0,35-10 0,0 1 0,1 0 0,-24 12 0,-45 33 0,69-40 0,2-1 0,0-1 0,-1-1 0,0 0 0,-33 9 0,19-8 0,-56 23 0,11-4 0,33-11 0,32-11 0,-1-1 0,1 0 0,-1-1 0,0 0 0,0-1 0,-12 2 0,-243-3 0,127-3 0,-331 2 0,449-2 0,0-1 0,0 0 0,1-2 0,-1 0 0,-31-13 0,-13-3 0,23 12 0,0 1 0,-53-2 0,69 7 0,15 1 0,-1 0 0,1-1 0,-1 0 0,-16-8 0,-28-8 0,-21-1 0,-81-32 0,118 38 0,23 9 0,0 0 0,0-2 0,1 0 0,0-1 0,-21-14 0,25 15 0,0-1 0,0 2 0,-1-1 0,0 2 0,0 0 0,0 0 0,0 1 0,-22-3 0,18 3 0,0 0 0,1-2 0,-1 0 0,1 0 0,0-2 0,0 0 0,1-1 0,0 0 0,1-1 0,0-1 0,1 0 0,0-1 0,-16-19 0,25 25 0,0 0 0,1 0 0,0-1 0,0 1 0,0-1 0,1 0 0,0 0 0,-1-9 0,1 7 0,0 1 0,-1 0 0,0-1 0,0 1 0,-4-7 0,2 5 0,1 0 0,0 0 0,1 0 0,0 0 0,1 0 0,0-1 0,0 1 0,1-17 0,-6-31 0,-1 3 0,3 0 0,2 0 0,5-67 0,-1 23 0,-1 65 0,3-65 0,-2 87 0,1-1 0,1 1 0,0 0 0,0 0 0,11-22 0,-10 23 0,0 0 0,-1-1 0,0 1 0,3-24 0,-5 22 0,2-1 0,0 1 0,6-18 0,-6 24 0,0-1 0,1 1 0,0 0 0,0 0 0,0 0 0,1 1 0,0 0 0,1 0 0,-1 0 0,1 0 0,13-8 0,-12 7 0,1 0 0,-1-1 0,10-12 0,-12 12 0,1 1 0,1 0 0,-1 0 0,13-10 0,34-29 0,3-3 0,-50 45 0,0 0 0,0 0 0,0 1 0,1 0 0,-1 0 0,1 1 0,-1-1 0,9-1 0,64-16 0,-59 13 0,0 2 0,1 0 0,-1 1 0,30-1 0,556 5 0,-272 1 0,-317 0 0,-1 1 0,27 6 0,-25-4 0,0-1 0,19 0 0,-14-2 0,0 1 0,46 8 0,-44-4 0,0 2 0,38 15 0,-49-18 0,0 0 0,1-1 0,24 3 0,0 0 0,81 15 0,-95-19 0,-1 0 0,32-2 0,10 1 0,-7 7 0,-43-5 0,1-1 0,19 1 0,-18-4 0,-6 0 0,0 0 0,-1 1 0,23 5 0,-30-5 0,0 0 0,0 1 0,0-1 0,-1 1 0,1 0 0,-1 0 0,1 0 0,-1 1 0,0-1 0,0 1 0,0 0 0,0 0 0,0 0 0,-1 0 0,4 5 0,1 3 0,7 11 0,15 29 0,-25-43 0,-1 0 0,0 1 0,0 0 0,-1 0 0,0 0 0,0 0 0,0 11 0,0 3 0,8 34 0,-1-8 0,-4-21 0,2-1 0,19 49 0,-3-11 0,-17-46 0,-1 0 0,-1 0 0,0 0 0,-2 1 0,1 28 0,-1-28 0,0-1 0,7 32 0,-1-11 0,2 2 0,-7-28 0,0 0 0,3 23 0,4 33 0,-6-50 0,3 38 0,-7-45 0,2 7 0,-2-1 0,0 1 0,-1 0 0,-1-1 0,-1 1 0,-1-1 0,-9 29 0,8-33 0,1 1 0,-6 30 0,9-35 0,-1 1 0,0 0 0,-1-1 0,-1 0 0,0 0 0,0 0 0,-8 13 0,11-22 0,-1 0 0,1 0 0,-1 0 0,1 0 0,-1 0 0,0 0 0,0-1 0,0 1 0,0-1 0,0 1 0,0-1 0,0 0 0,0 0 0,-1 0 0,1 0 0,0 0 0,-1 0 0,1-1 0,0 1 0,-1-1 0,1 1 0,-1-1 0,1 0 0,-1 0 0,1 0 0,-1-1 0,1 1 0,-1 0 0,1-1 0,-1 0 0,-1 0 0,-3-2 0,0 0 0,0-1 0,0 0 0,1 1 0,0-2 0,0 1 0,0-1 0,-10-11 0,9 8 0,0-1 0,0 1 0,1-1 0,0-1 0,1 1 0,0-1 0,0 0 0,1 0 0,1-1 0,-1 1 0,2-1 0,-1 0 0,2 0 0,-2-17 0,2 13-385,-1 1 0,-7-27-1,8 39 177,-2-12-6617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0T07:12:23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24575,'-1'30'0,"0"-11"0,1 0 0,0 1 0,2-1 0,0 0 0,1 0 0,1 0 0,10 30 0,-7-31 0,-2 0 0,6 27 0,-7-27 0,0-1 0,13 33 0,48 118 0,-60-152 0,0 0 0,4 31 0,-7-31 0,2 0 0,9 30 0,8 20 0,-15-42 0,13 30 0,-15-46 0,-3-4 0,1 1 0,0-1 0,0 0 0,0 0 0,1 0 0,-1 0 0,1 0 0,4 4 0,-7-8 0,0 0 0,1 0 0,-1 0 0,0 0 0,0 0 0,1 0 0,-1 0 0,0 0 0,0 0 0,0 0 0,1 0 0,-1 0 0,0 0 0,0 0 0,1 0 0,-1 0 0,0 0 0,0 0 0,0 0 0,1 0 0,-1 0 0,0 0 0,0-1 0,0 1 0,0 0 0,1 0 0,-1 0 0,0 0 0,0-1 0,0 1 0,0 0 0,0 0 0,1 0 0,-1 0 0,0-1 0,0 1 0,0 0 0,0 0 0,0-1 0,0 1 0,0 0 0,0 0 0,0 0 0,0-1 0,0 1 0,0 0 0,0 0 0,0-1 0,0 1 0,2-14 0,-2 14 0,1-240 0,-3 114 0,2 84-1365,0 24-5461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68855-67BC-4BFB-9C5C-166E49F8055F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8513D-E149-4C5E-BEAE-E0D5DCFAF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3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저는 다들 아실 논문인 </a:t>
            </a:r>
            <a:r>
              <a:rPr lang="en-US" altLang="ko-KR" dirty="0"/>
              <a:t>Attention is all you need</a:t>
            </a:r>
            <a:r>
              <a:rPr lang="ko-KR" altLang="en-US" dirty="0"/>
              <a:t>라는 </a:t>
            </a:r>
            <a:r>
              <a:rPr lang="en-US" altLang="ko-KR" dirty="0" err="1"/>
              <a:t>transfoemer</a:t>
            </a:r>
            <a:r>
              <a:rPr lang="ko-KR" altLang="en-US" dirty="0"/>
              <a:t>의 시발점인 논문을 가져왔습니다</a:t>
            </a:r>
            <a:r>
              <a:rPr lang="en-US" altLang="ko-KR" dirty="0"/>
              <a:t>. </a:t>
            </a:r>
            <a:r>
              <a:rPr lang="ko-KR" altLang="en-US" dirty="0"/>
              <a:t>처음이라 기본적인 것을 </a:t>
            </a:r>
            <a:r>
              <a:rPr lang="ko-KR" altLang="en-US" dirty="0" err="1"/>
              <a:t>고르다보니</a:t>
            </a:r>
            <a:r>
              <a:rPr lang="ko-KR" altLang="en-US" dirty="0"/>
              <a:t> 이것을 고르게 됐는데 아시는 분들은 간단하게 상기시키는 느낌으로 봐주시면 감사하겠습니다</a:t>
            </a:r>
            <a:r>
              <a:rPr lang="en-US" altLang="ko-KR" dirty="0"/>
              <a:t>. (</a:t>
            </a:r>
            <a:r>
              <a:rPr lang="ko-KR" altLang="en-US" dirty="0"/>
              <a:t>이 내용은 전부 </a:t>
            </a:r>
            <a:r>
              <a:rPr lang="en-US" altLang="ko-KR" dirty="0"/>
              <a:t>‘</a:t>
            </a:r>
            <a:r>
              <a:rPr lang="ko-KR" altLang="en-US" dirty="0"/>
              <a:t>자연어 처리</a:t>
            </a:r>
            <a:r>
              <a:rPr lang="en-US" altLang="ko-KR" dirty="0"/>
              <a:t>‘</a:t>
            </a:r>
            <a:r>
              <a:rPr lang="ko-KR" altLang="en-US" dirty="0"/>
              <a:t>하는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120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  <a:r>
              <a:rPr lang="ko-KR" altLang="en-US" dirty="0"/>
              <a:t>가 나오기 전에 기존에는 </a:t>
            </a:r>
            <a:r>
              <a:rPr lang="en-US" altLang="ko-KR" dirty="0"/>
              <a:t>RNN</a:t>
            </a:r>
            <a:r>
              <a:rPr lang="ko-KR" altLang="en-US" dirty="0"/>
              <a:t>이라는 </a:t>
            </a:r>
            <a:r>
              <a:rPr lang="en-US" altLang="ko-KR" dirty="0"/>
              <a:t>Recurrent Neural Network </a:t>
            </a:r>
            <a:r>
              <a:rPr lang="ko-KR" altLang="en-US" dirty="0"/>
              <a:t>순환 신경망을 사용 하고 있었습니다</a:t>
            </a:r>
            <a:r>
              <a:rPr lang="en-US" altLang="ko-KR" dirty="0"/>
              <a:t>. </a:t>
            </a:r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RNN</a:t>
            </a:r>
            <a:r>
              <a:rPr lang="ko-KR" altLang="en-US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은 </a:t>
            </a:r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encode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에 넣는 입력을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입력 기호 시퀀스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넣고 이를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encode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에서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표준 벡터 시퀀스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변환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하고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 변환된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표준 벡터 시퀀스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를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decode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에서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auto-regressive(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자가회귀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방식을 이용하여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출력 기호 시퀀스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한번에 하나씩 생성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합니다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여기서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auto-regressive(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자가회귀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방식은 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이전 결과를 기반으로 다음결과를 예측하여 만들고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그 결과를 다시 입력으로 사용하여 다음 결과를 예측하여 만들어가는 방법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입니다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간단히 설명하자면</a:t>
            </a:r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Ppt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에서 보면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bat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에는 방망이와 박쥐 두가지 뜻이 있습니다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근데 앞에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baseball 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이라는 단어가 붙으면 저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bat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의 뜻이 박쥐일 가능성은 굉장히 낮아질 겁니다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이렇게 해서 저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bat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의 뜻이 방망이 인 것을 예측하는 것 입니다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사진 출처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: https://www.youtube.com/watch?v=OkTyY28XMuQ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308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RNN</a:t>
            </a:r>
            <a:r>
              <a:rPr lang="ko-KR" altLang="en-US" dirty="0"/>
              <a:t>를 예로 간단히 들자면 이 예시에서</a:t>
            </a:r>
            <a:r>
              <a:rPr lang="en-US" altLang="ko-KR" dirty="0"/>
              <a:t>, I go to school</a:t>
            </a:r>
            <a:r>
              <a:rPr lang="ko-KR" altLang="en-US" dirty="0"/>
              <a:t>를</a:t>
            </a:r>
            <a:r>
              <a:rPr lang="en-US" altLang="ko-KR" dirty="0"/>
              <a:t> Encoder</a:t>
            </a:r>
            <a:r>
              <a:rPr lang="ko-KR" altLang="en-US" dirty="0"/>
              <a:t>에서 </a:t>
            </a:r>
            <a:r>
              <a:rPr lang="en-US" altLang="ko-KR" dirty="0"/>
              <a:t>‘</a:t>
            </a:r>
            <a:r>
              <a:rPr lang="ko-KR" altLang="en-US" dirty="0"/>
              <a:t>표준 벡터 시퀀스</a:t>
            </a:r>
            <a:r>
              <a:rPr lang="en-US" altLang="ko-KR" dirty="0"/>
              <a:t>’</a:t>
            </a:r>
            <a:r>
              <a:rPr lang="ko-KR" altLang="en-US" dirty="0"/>
              <a:t>를 만들고</a:t>
            </a:r>
            <a:r>
              <a:rPr lang="en-US" altLang="ko-KR" dirty="0"/>
              <a:t>, </a:t>
            </a:r>
            <a:r>
              <a:rPr lang="ko-KR" altLang="en-US" dirty="0"/>
              <a:t>이를 바탕으로 </a:t>
            </a:r>
            <a:r>
              <a:rPr lang="en-US" altLang="ko-KR" dirty="0"/>
              <a:t>decoder</a:t>
            </a:r>
            <a:r>
              <a:rPr lang="ko-KR" altLang="en-US" dirty="0"/>
              <a:t>에서 </a:t>
            </a:r>
            <a:r>
              <a:rPr lang="en-US" altLang="ko-KR" dirty="0"/>
              <a:t>auto-regressive</a:t>
            </a:r>
            <a:r>
              <a:rPr lang="ko-KR" altLang="en-US" dirty="0"/>
              <a:t>를 하여 다음 단어를 예측하는데</a:t>
            </a:r>
            <a:r>
              <a:rPr lang="en-US" altLang="ko-KR" dirty="0"/>
              <a:t>, </a:t>
            </a:r>
            <a:r>
              <a:rPr lang="ko-KR" altLang="en-US" dirty="0"/>
              <a:t>이때 </a:t>
            </a:r>
            <a:r>
              <a:rPr lang="en-US" altLang="ko-KR" dirty="0"/>
              <a:t>auto-regressive</a:t>
            </a:r>
            <a:r>
              <a:rPr lang="ko-KR" altLang="en-US" dirty="0"/>
              <a:t>를 </a:t>
            </a:r>
            <a:r>
              <a:rPr lang="ko-KR" altLang="en-US" dirty="0" err="1"/>
              <a:t>할때</a:t>
            </a:r>
            <a:r>
              <a:rPr lang="ko-KR" altLang="en-US" dirty="0"/>
              <a:t> 이전 단어들의 정보를 </a:t>
            </a:r>
            <a:r>
              <a:rPr lang="en-US" altLang="ko-KR" dirty="0"/>
              <a:t>hidden state</a:t>
            </a:r>
            <a:r>
              <a:rPr lang="ko-KR" altLang="en-US" dirty="0"/>
              <a:t>라는 고정된 벡터 크기에 저장을 시킵니다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여기서 단점이 보이 보이는데</a:t>
            </a:r>
            <a:r>
              <a:rPr lang="en-US" altLang="ko-KR" dirty="0"/>
              <a:t>, </a:t>
            </a:r>
            <a:r>
              <a:rPr lang="ko-KR" altLang="en-US" dirty="0"/>
              <a:t>저장되는 벡터의 크기</a:t>
            </a:r>
            <a:r>
              <a:rPr lang="en-US" altLang="ko-KR" dirty="0"/>
              <a:t>(hidden state)</a:t>
            </a:r>
            <a:r>
              <a:rPr lang="ko-KR" altLang="en-US" dirty="0"/>
              <a:t>가 고정되어 있어서</a:t>
            </a:r>
            <a:r>
              <a:rPr lang="en-US" altLang="ko-KR" dirty="0"/>
              <a:t>, </a:t>
            </a:r>
            <a:r>
              <a:rPr lang="ko-KR" altLang="en-US" dirty="0"/>
              <a:t>긴 문장을 예측할 때</a:t>
            </a:r>
            <a:r>
              <a:rPr lang="en-US" altLang="ko-KR" dirty="0"/>
              <a:t> </a:t>
            </a:r>
            <a:r>
              <a:rPr lang="ko-KR" altLang="en-US" dirty="0"/>
              <a:t>정보 손실이 일어나 예측이 정확하지 않습니다</a:t>
            </a:r>
            <a:r>
              <a:rPr lang="en-US" altLang="ko-KR" dirty="0"/>
              <a:t>. </a:t>
            </a:r>
            <a:r>
              <a:rPr lang="ko-KR" altLang="en-US" dirty="0"/>
              <a:t>이를 봄으로서 장거리 의존성 문제가 있음을 볼 수 있다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050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 err="1"/>
              <a:t>Transfomer</a:t>
            </a:r>
            <a:r>
              <a:rPr lang="ko-KR" altLang="en-US" dirty="0"/>
              <a:t>는 </a:t>
            </a:r>
            <a:r>
              <a:rPr lang="en-US" altLang="ko-KR" dirty="0"/>
              <a:t>RNN</a:t>
            </a:r>
            <a:r>
              <a:rPr lang="ko-KR" altLang="en-US" dirty="0"/>
              <a:t>과 똑같이 </a:t>
            </a:r>
            <a:r>
              <a:rPr lang="en-US" altLang="ko-KR" dirty="0"/>
              <a:t>auto-aggressive</a:t>
            </a:r>
            <a:r>
              <a:rPr lang="ko-KR" altLang="en-US" dirty="0"/>
              <a:t>를 사용하지만</a:t>
            </a:r>
            <a:r>
              <a:rPr lang="en-US" altLang="ko-KR" dirty="0"/>
              <a:t>, self-attention</a:t>
            </a:r>
            <a:r>
              <a:rPr lang="ko-KR" altLang="en-US" dirty="0"/>
              <a:t>으로 병렬적 처리를</a:t>
            </a:r>
            <a:r>
              <a:rPr lang="en-US" altLang="ko-KR" dirty="0"/>
              <a:t> </a:t>
            </a:r>
            <a:r>
              <a:rPr lang="ko-KR" altLang="en-US" dirty="0"/>
              <a:t>가능하게 하여 학습 속도를 빠르게 하였고</a:t>
            </a:r>
            <a:r>
              <a:rPr lang="en-US" altLang="ko-KR" dirty="0"/>
              <a:t>, RNN</a:t>
            </a:r>
            <a:r>
              <a:rPr lang="ko-KR" altLang="en-US" dirty="0"/>
              <a:t>의 단점인 장거리 의존성도 고정된 벡터 </a:t>
            </a:r>
            <a:r>
              <a:rPr lang="en-US" altLang="ko-KR" dirty="0"/>
              <a:t>hidden-state</a:t>
            </a:r>
            <a:r>
              <a:rPr lang="ko-KR" altLang="en-US" dirty="0"/>
              <a:t>를 사용하지 않고 </a:t>
            </a:r>
            <a:r>
              <a:rPr lang="en-US" altLang="ko-KR" dirty="0"/>
              <a:t>self-attention</a:t>
            </a:r>
            <a:r>
              <a:rPr lang="ko-KR" altLang="en-US" dirty="0"/>
              <a:t>으로 각</a:t>
            </a:r>
            <a:r>
              <a:rPr lang="en-US" altLang="ko-KR" dirty="0"/>
              <a:t> </a:t>
            </a:r>
            <a:r>
              <a:rPr lang="ko-KR" altLang="en-US" dirty="0"/>
              <a:t>단어마다 직접 연결하여 극복하였습니다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사진 출처 </a:t>
            </a:r>
            <a:r>
              <a:rPr lang="en-US" altLang="ko-KR" dirty="0"/>
              <a:t>: https://wikidocs.net/31379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007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Transfoemer</a:t>
            </a:r>
            <a:r>
              <a:rPr lang="ko-KR" altLang="en-US" dirty="0"/>
              <a:t>의 전체적인 구조는 이렇게 생겼고</a:t>
            </a:r>
            <a:r>
              <a:rPr lang="en-US" altLang="ko-KR" dirty="0"/>
              <a:t>, </a:t>
            </a:r>
            <a:r>
              <a:rPr lang="ko-KR" altLang="en-US" dirty="0"/>
              <a:t>왼쪽이 인코더 블록</a:t>
            </a:r>
            <a:r>
              <a:rPr lang="en-US" altLang="ko-KR" dirty="0"/>
              <a:t>, </a:t>
            </a:r>
            <a:r>
              <a:rPr lang="ko-KR" altLang="en-US" dirty="0"/>
              <a:t>오른쪽이 </a:t>
            </a:r>
            <a:r>
              <a:rPr lang="ko-KR" altLang="en-US" dirty="0" err="1"/>
              <a:t>디코더</a:t>
            </a:r>
            <a:r>
              <a:rPr lang="ko-KR" altLang="en-US" dirty="0"/>
              <a:t> 블록입니다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09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인코더 블록 구조를 먼저 보시면 멀티헤드 셀프 </a:t>
            </a:r>
            <a:r>
              <a:rPr lang="ko-KR" altLang="en-US" dirty="0" err="1"/>
              <a:t>어텐션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en-US" altLang="ko-KR" dirty="0" err="1"/>
              <a:t>Add&amp;Norm</a:t>
            </a:r>
            <a:r>
              <a:rPr lang="en-US" altLang="ko-KR" dirty="0"/>
              <a:t> -&gt; </a:t>
            </a:r>
            <a:r>
              <a:rPr lang="en-US" altLang="ko-KR" sz="1200" b="1" kern="1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Position-wise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Feed Forward Network (FFN) + Add &amp; Norm (</a:t>
            </a:r>
            <a:r>
              <a:rPr lang="ko-KR" altLang="ko-KR" sz="12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잔차</a:t>
            </a:r>
            <a:r>
              <a:rPr lang="ko-KR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연결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+ </a:t>
            </a:r>
            <a:r>
              <a:rPr lang="en-US" altLang="ko-KR" sz="12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LayerNorm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거치는 구조를 가지고 있습니다</a:t>
            </a:r>
            <a:endParaRPr lang="en-US" altLang="ko-KR" sz="12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**</a:t>
            </a:r>
            <a:r>
              <a:rPr lang="ko-KR" altLang="en-US" sz="12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잔차연결</a:t>
            </a:r>
            <a:r>
              <a:rPr lang="ko-KR" altLang="en-US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원래 입력 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+</a:t>
            </a:r>
            <a:r>
              <a:rPr lang="ko-KR" altLang="en-US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attention </a:t>
            </a:r>
            <a:r>
              <a:rPr lang="ko-KR" altLang="en-US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결과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활성화 함수를 적용시킨 값</a:t>
            </a:r>
            <a:r>
              <a:rPr lang="en-US" altLang="ko-KR" sz="12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2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868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987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논문에서는 이 </a:t>
            </a:r>
            <a:r>
              <a:rPr lang="en-US" altLang="ko-KR" dirty="0"/>
              <a:t>encoder</a:t>
            </a:r>
            <a:r>
              <a:rPr lang="ko-KR" altLang="en-US" dirty="0"/>
              <a:t>와 </a:t>
            </a:r>
            <a:r>
              <a:rPr lang="en-US" altLang="ko-KR" dirty="0"/>
              <a:t>decoder</a:t>
            </a:r>
            <a:r>
              <a:rPr lang="ko-KR" altLang="en-US" dirty="0"/>
              <a:t>를 </a:t>
            </a:r>
            <a:r>
              <a:rPr lang="en-US" altLang="ko-KR" dirty="0"/>
              <a:t>6</a:t>
            </a:r>
            <a:r>
              <a:rPr lang="ko-KR" altLang="en-US" dirty="0"/>
              <a:t>개씩 사용하였고</a:t>
            </a:r>
            <a:r>
              <a:rPr lang="en-US" altLang="ko-KR" dirty="0"/>
              <a:t>, </a:t>
            </a:r>
            <a:r>
              <a:rPr lang="ko-KR" altLang="en-US" dirty="0"/>
              <a:t>인코더의 출력</a:t>
            </a:r>
            <a:r>
              <a:rPr lang="en-US" altLang="ko-KR" dirty="0"/>
              <a:t>(Context Vector)</a:t>
            </a:r>
            <a:r>
              <a:rPr lang="ko-KR" altLang="en-US" dirty="0"/>
              <a:t>이 </a:t>
            </a:r>
            <a:r>
              <a:rPr lang="en-US" altLang="ko-KR" dirty="0"/>
              <a:t>decoder</a:t>
            </a:r>
            <a:r>
              <a:rPr lang="ko-KR" altLang="en-US" dirty="0"/>
              <a:t>의 두번째 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Multi-Head Attention</a:t>
            </a:r>
            <a:r>
              <a:rPr lang="ko-KR" altLang="en-US" sz="1800" b="0" kern="0" dirty="0"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에 들어가 </a:t>
            </a:r>
            <a:r>
              <a:rPr lang="en-US" altLang="ko-KR" sz="1800" b="0" kern="0" dirty="0"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cross attention</a:t>
            </a:r>
            <a:r>
              <a:rPr lang="ko-KR" altLang="en-US" sz="1800" b="0" kern="0" dirty="0"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을 수행하는데</a:t>
            </a:r>
            <a:r>
              <a:rPr lang="en-US" altLang="ko-KR" sz="1800" b="0" kern="0" dirty="0"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, </a:t>
            </a:r>
            <a:r>
              <a:rPr lang="ko-KR" altLang="en-US" sz="1800" b="0" kern="0" dirty="0"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이때 인코더의 출력</a:t>
            </a:r>
            <a:r>
              <a:rPr lang="en-US" altLang="ko-KR" dirty="0">
                <a:solidFill>
                  <a:srgbClr val="FF0000"/>
                </a:solidFill>
              </a:rPr>
              <a:t>(Context Vector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encoder</a:t>
            </a:r>
            <a:r>
              <a:rPr lang="ko-KR" altLang="en-US" dirty="0"/>
              <a:t>의 각각에 블록의 출력이 아닌 인코더 </a:t>
            </a:r>
            <a:r>
              <a:rPr lang="en-US" altLang="ko-KR" dirty="0"/>
              <a:t>6</a:t>
            </a:r>
            <a:r>
              <a:rPr lang="ko-KR" altLang="en-US" dirty="0"/>
              <a:t>개의 블록을 다 거쳐서 추출된  하나의 출력</a:t>
            </a:r>
            <a:r>
              <a:rPr lang="en-US" altLang="ko-KR" dirty="0"/>
              <a:t>(Context Vector)</a:t>
            </a:r>
            <a:r>
              <a:rPr lang="ko-KR" altLang="en-US" dirty="0"/>
              <a:t>을 </a:t>
            </a:r>
            <a:r>
              <a:rPr lang="en-US" altLang="ko-KR" dirty="0"/>
              <a:t>6</a:t>
            </a:r>
            <a:r>
              <a:rPr lang="ko-KR" altLang="en-US" dirty="0"/>
              <a:t>개의 </a:t>
            </a:r>
            <a:r>
              <a:rPr lang="en-US" altLang="ko-KR" dirty="0"/>
              <a:t>decode</a:t>
            </a:r>
            <a:r>
              <a:rPr lang="ko-KR" altLang="en-US" dirty="0"/>
              <a:t>에서 각각　</a:t>
            </a:r>
            <a:r>
              <a:rPr lang="en-US" altLang="ko-KR" dirty="0"/>
              <a:t>cross attention</a:t>
            </a:r>
            <a:r>
              <a:rPr lang="ko-KR" altLang="en-US" dirty="0"/>
              <a:t>을 수행합니다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090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논문에서 처음으로 제안된 방식인 </a:t>
            </a:r>
            <a:r>
              <a:rPr lang="en-US" altLang="ko-KR" dirty="0"/>
              <a:t>Scaled Dot-Product Attention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기존에도 </a:t>
            </a:r>
            <a:r>
              <a:rPr lang="en-US" altLang="ko-KR" dirty="0"/>
              <a:t>Dot-product </a:t>
            </a:r>
            <a:r>
              <a:rPr lang="en-US" altLang="ko-KR" dirty="0" err="1"/>
              <a:t>attentio</a:t>
            </a:r>
            <a:r>
              <a:rPr lang="ko-KR" altLang="en-US" dirty="0"/>
              <a:t>은 있었지만 이 논문에서는 </a:t>
            </a:r>
            <a:r>
              <a:rPr lang="en-US" altLang="ko-KR" dirty="0"/>
              <a:t>scaling(</a:t>
            </a:r>
            <a:r>
              <a:rPr lang="ko-KR" altLang="en-US" dirty="0"/>
              <a:t>스케일링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dirty="0" err="1"/>
              <a:t>추가하므로서</a:t>
            </a:r>
            <a:r>
              <a:rPr lang="ko-KR" altLang="en-US" dirty="0"/>
              <a:t>　학습　안정성이　높아짐을　보여줬다．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Matmul</a:t>
            </a:r>
            <a:r>
              <a:rPr lang="en-US" altLang="ko-KR" dirty="0"/>
              <a:t> = </a:t>
            </a:r>
            <a:r>
              <a:rPr lang="en-US" altLang="ko-KR" b="1" dirty="0"/>
              <a:t>matrix multiplication</a:t>
            </a:r>
            <a:r>
              <a:rPr lang="en-US" altLang="ko-KR" dirty="0"/>
              <a:t>(</a:t>
            </a:r>
            <a:r>
              <a:rPr lang="ko-KR" altLang="en-US" dirty="0"/>
              <a:t>행렬 곱셈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893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　설명했던　</a:t>
            </a:r>
            <a:r>
              <a:rPr lang="en-US" altLang="ko-KR" dirty="0"/>
              <a:t>Scaled Dot-Product Attention</a:t>
            </a:r>
            <a:r>
              <a:rPr lang="ko-KR" altLang="en-US" dirty="0"/>
              <a:t>　을　각　</a:t>
            </a:r>
            <a:r>
              <a:rPr lang="ko-KR" altLang="en-US" dirty="0" err="1"/>
              <a:t>ｈｅａｄ마다</a:t>
            </a:r>
            <a:r>
              <a:rPr lang="ko-KR" altLang="en-US" dirty="0"/>
              <a:t>　수행하는　이것입니다．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Concat</a:t>
            </a:r>
            <a:r>
              <a:rPr lang="en-US" altLang="ko-KR" dirty="0"/>
              <a:t> : concatenate</a:t>
            </a:r>
            <a:r>
              <a:rPr lang="ko-KR" altLang="en-US" dirty="0"/>
              <a:t>로 </a:t>
            </a:r>
            <a:r>
              <a:rPr lang="en-US" altLang="ko-KR" dirty="0"/>
              <a:t>‘</a:t>
            </a:r>
            <a:r>
              <a:rPr lang="ko-KR" altLang="en-US" dirty="0"/>
              <a:t>벡터나 리스트를 이어 붙인다</a:t>
            </a:r>
            <a:r>
              <a:rPr lang="en-US" altLang="ko-KR" dirty="0"/>
              <a:t>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415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순전파</a:t>
            </a:r>
            <a:r>
              <a:rPr lang="ko-KR" altLang="en-US" dirty="0"/>
              <a:t> 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212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+mn-lt"/>
              </a:rPr>
              <a:t>Position</a:t>
            </a:r>
            <a:r>
              <a:rPr lang="ko-KR" altLang="en-US" dirty="0">
                <a:latin typeface="+mn-lt"/>
              </a:rPr>
              <a:t> </a:t>
            </a:r>
            <a:r>
              <a:rPr lang="en-US" altLang="ko-KR" dirty="0">
                <a:latin typeface="+mn-lt"/>
              </a:rPr>
              <a:t>wise</a:t>
            </a:r>
            <a:r>
              <a:rPr lang="ko-KR" altLang="en-US" dirty="0">
                <a:latin typeface="+mn-lt"/>
              </a:rPr>
              <a:t>랑은 별개입니다</a:t>
            </a:r>
            <a:r>
              <a:rPr lang="en-US" altLang="ko-KR" dirty="0">
                <a:latin typeface="+mn-lt"/>
              </a:rPr>
              <a:t>.</a:t>
            </a:r>
            <a:endParaRPr lang="ko-KR" altLang="en-US" dirty="0">
              <a:latin typeface="+mn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169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self-attention,  RNN, CNN</a:t>
            </a:r>
            <a:r>
              <a:rPr lang="ko-KR" altLang="en-US" dirty="0"/>
              <a:t>，　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Restricted self-attention</a:t>
            </a:r>
            <a:r>
              <a:rPr lang="ko-KR" altLang="en-US" dirty="0"/>
              <a:t>과 함께 </a:t>
            </a:r>
            <a:r>
              <a:rPr lang="en-US" altLang="ko-KR" dirty="0"/>
              <a:t>3</a:t>
            </a:r>
            <a:r>
              <a:rPr lang="ko-KR" altLang="en-US" dirty="0"/>
              <a:t>가지 측면에서 비교한 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8513D-E149-4C5E-BEAE-E0D5DCFAFEC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75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75765-48D9-FB42-6EF4-399B7121B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2ED24A-A25D-A8E2-97C0-2FA231E8E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F05D15-7076-CCB1-9B3B-C5370375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2292A-80E2-4883-ABC9-AEA71314C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3F4D8-8BA2-7325-B8C8-315220296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62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B747D-0228-43FD-AF3E-AD495754B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AB9678-C6C1-CD70-03E3-993A798A9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31FF06-E17F-0167-EAD0-CEE9FFC22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A8EBB-8ADA-0413-3A3F-D13E817AF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7A109D-A232-4215-E33C-E83A710C9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974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4AC7A-F319-8535-1257-8AAFF23B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7B24D5-A7E4-0BFE-5F85-1D3FA40BA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024611-3272-2DEF-2C71-2B724D98D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BF89D6-3BD4-E445-EA01-42EC2A8C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3914AE-F3F1-F7B5-4A50-946FA624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30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88E1B-D96D-6125-2E2E-066A15572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13631D-7ADD-8E65-AEE6-F45FBE01E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F260AA-B824-77DB-7381-AE90D1F6A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C32B02-2A0C-908D-1DB3-ABB47D0C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D4619-4B13-DC3C-CC11-7E5793A0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BA1B66-684E-DE1B-10A3-C4F56BA8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703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C3356-03E8-18B0-C399-D52E13B3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F3DC2E-7D0F-10E6-5AD2-591BEBFA3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427249-B8EB-48D5-D4EC-C442EBDA5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C2C3FA-F965-5D61-A032-7475BEDA5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242B78-59FE-F333-4230-DB7CE90D3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F83C266-0DC6-F9CF-3017-EFF4C544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B1B14E-9F76-5D67-CD0D-1CE92241B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EFA3558-678C-53A4-AB27-C02BB713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72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67CD7-862C-6C6B-4A09-16F8EC66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DB5BA6-A298-B112-BC4C-688C7D2C5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34A61D-961F-D5B5-DE25-29521F56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7CAD2D-843A-C337-2580-BA3FB9FD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09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E2D4F0-2E7D-2912-9420-27C0EA33F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0B9CEF-CF24-1B94-E4E9-D943E8EA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0AE867-AB4A-1A88-654D-A86FB05D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22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9A1D2-184C-ACB2-2E50-6D03C811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DA5DFA-0372-6A51-4518-3D80DEA78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5B1BBB-B730-B141-E72F-46FABAD64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A38B66-8578-8983-CA87-F6C8382A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73E7E-85EF-F84C-C0CD-2E822CE0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E60057-9181-CE1A-9767-04A84424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50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6FFDC9-B495-2175-41A2-B8212D8A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FA0086-0A21-395D-2BB6-95334BA3B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638837-59E3-AD07-B534-6E63BE0C1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963ADE-5280-7D68-A8A1-E5112F05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8ED2F9-FEA6-63BF-7155-CE6FD684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A000CD-82FF-E5FA-35A7-968A08C2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91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2040A-EE43-C571-48D3-A1FD7628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FA6B23-B429-600F-5309-7D7C85B0D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B41049-66CF-3E26-F379-3F5CA95B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1B6AAA-6AF9-1891-EEF5-21B575F1D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7A0D5-EAC6-36FC-8847-06E8E325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10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33698E-2861-CC3A-1927-C93D1529AC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77D72B-180A-D27D-8161-8A0E67749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EB1007-C569-CBEC-DC02-D00A0B1C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3E06F8-B450-5BD4-8B52-B56D157C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AF0EC5-11AC-B736-BA2E-1A9242CE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19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55D7D0-AE45-5EB5-7781-DD9A70DB0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1DD0EF-D1D0-6D18-2BEA-6C7B9D794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FABB45-1F85-3D26-89BD-01A626EC7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84344-1477-4581-91E1-F499F84C193A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A9476A-BD5B-7A3B-C5AB-969BD1A2E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584D8-A7D0-7885-D5EE-49A18BD4F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E8953-5CD0-49DC-AD28-7CE75099DB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customXml" Target="../ink/ink3.xml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F9E9E-1575-ED98-A18F-78D44409DD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Attention Is All You Need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C33836-44D8-D4A1-C410-64D3A6910F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15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F623CF-CC54-84EA-FC29-F90B7179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42B8A4-DB74-BDCA-5B2E-538D60633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기존의 </a:t>
            </a:r>
            <a:r>
              <a:rPr lang="en-US" altLang="ko-KR" dirty="0"/>
              <a:t>RNN</a:t>
            </a:r>
          </a:p>
          <a:p>
            <a:endParaRPr lang="en-US" altLang="ko-KR" sz="1500" dirty="0"/>
          </a:p>
          <a:p>
            <a:pPr marL="0" indent="0">
              <a:buNone/>
            </a:pPr>
            <a:r>
              <a:rPr lang="en-US" altLang="ko-KR" dirty="0"/>
              <a:t>1) Auto-Regressive(</a:t>
            </a:r>
            <a:r>
              <a:rPr lang="ko-KR" altLang="en-US" dirty="0"/>
              <a:t>자가회귀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61A171-6FF2-BB86-CB9F-7520C5EEE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53002"/>
            <a:ext cx="2554995" cy="30258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BC4767-535D-BDCE-110D-9F2A09153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037" y="2625592"/>
            <a:ext cx="4035388" cy="35513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BDD4154-6580-2D35-479B-4232B82F8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5517" y="3876133"/>
            <a:ext cx="3588198" cy="15796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265358-FC05-9CF9-3E90-FBCA7440E221}"/>
              </a:ext>
            </a:extLst>
          </p:cNvPr>
          <p:cNvSpPr txBox="1"/>
          <p:nvPr/>
        </p:nvSpPr>
        <p:spPr>
          <a:xfrm>
            <a:off x="927847" y="2296881"/>
            <a:ext cx="11264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RNN</a:t>
            </a:r>
            <a:r>
              <a:rPr lang="ko-KR" altLang="en-US" dirty="0"/>
              <a:t>의 생성 과정</a:t>
            </a:r>
            <a:r>
              <a:rPr lang="en-US" altLang="ko-KR" dirty="0"/>
              <a:t>: </a:t>
            </a:r>
            <a:r>
              <a:rPr lang="ko-KR" altLang="en-US" dirty="0"/>
              <a:t>입력 기호 시퀀스 </a:t>
            </a:r>
            <a:r>
              <a:rPr lang="en-US" altLang="ko-KR" dirty="0"/>
              <a:t>-&gt; Encoder -&gt; </a:t>
            </a:r>
            <a:r>
              <a:rPr lang="ko-KR" altLang="en-US" dirty="0"/>
              <a:t>표준 벡터 시퀀스 </a:t>
            </a:r>
            <a:r>
              <a:rPr lang="en-US" altLang="ko-KR" dirty="0"/>
              <a:t>-&gt; Decoder(auto-regressive) -&gt; </a:t>
            </a:r>
            <a:r>
              <a:rPr lang="ko-KR" altLang="en-US" dirty="0"/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36414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255F7-7878-5F2F-1FEC-F9005E662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RNN</a:t>
            </a:r>
            <a:r>
              <a:rPr lang="ko-KR" altLang="en-US" dirty="0"/>
              <a:t>의 단점</a:t>
            </a:r>
            <a:r>
              <a:rPr lang="en-US" altLang="ko-KR" sz="2500" dirty="0"/>
              <a:t>(</a:t>
            </a:r>
            <a:r>
              <a:rPr lang="ko-KR" altLang="en-US" sz="2500" dirty="0">
                <a:solidFill>
                  <a:srgbClr val="FF0000"/>
                </a:solidFill>
              </a:rPr>
              <a:t>장거리 의존성</a:t>
            </a:r>
            <a:r>
              <a:rPr lang="en-US" altLang="ko-KR" sz="2500" dirty="0"/>
              <a:t>)</a:t>
            </a:r>
            <a:endParaRPr lang="ko-KR" altLang="en-US" sz="25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3C98B-8264-DB7A-43CA-69BD86B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RNN </a:t>
            </a:r>
            <a:r>
              <a:rPr lang="ko-KR" altLang="en-US" b="1" dirty="0"/>
              <a:t>예시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sz="2500" dirty="0"/>
              <a:t>&lt;Encoder&gt;</a:t>
            </a:r>
          </a:p>
          <a:p>
            <a:pPr marL="0" indent="0">
              <a:buNone/>
            </a:pPr>
            <a:r>
              <a:rPr lang="en-US" altLang="ko-KR" sz="2200" dirty="0"/>
              <a:t>I go to school.  =&gt; ‘</a:t>
            </a:r>
            <a:r>
              <a:rPr lang="ko-KR" altLang="en-US" sz="2200" dirty="0"/>
              <a:t>표준 벡터 시퀀스</a:t>
            </a:r>
            <a:r>
              <a:rPr lang="en-US" altLang="ko-KR" sz="2200" dirty="0"/>
              <a:t>‘</a:t>
            </a:r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en-US" altLang="ko-KR" sz="2500" dirty="0"/>
              <a:t>&lt;Decoder&gt;</a:t>
            </a:r>
          </a:p>
          <a:p>
            <a:pPr marL="0" indent="0">
              <a:buNone/>
            </a:pPr>
            <a:r>
              <a:rPr lang="en-US" altLang="ko-KR" sz="2400" dirty="0"/>
              <a:t>	</a:t>
            </a:r>
            <a:r>
              <a:rPr lang="ko-KR" altLang="en-US" sz="2000" dirty="0"/>
              <a:t>나는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1000" dirty="0">
                <a:solidFill>
                  <a:schemeClr val="accent6">
                    <a:lumMod val="75000"/>
                  </a:schemeClr>
                </a:solidFill>
              </a:rPr>
              <a:t>(hidden state</a:t>
            </a:r>
            <a:r>
              <a:rPr lang="en-US" altLang="ko-KR" sz="1000" dirty="0"/>
              <a:t>)-&gt;</a:t>
            </a:r>
            <a:r>
              <a:rPr lang="ko-KR" altLang="en-US" sz="2000" dirty="0"/>
              <a:t>나는 학교에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1000" dirty="0">
                <a:solidFill>
                  <a:schemeClr val="accent6">
                    <a:lumMod val="75000"/>
                  </a:schemeClr>
                </a:solidFill>
              </a:rPr>
              <a:t>(hidden state)</a:t>
            </a:r>
            <a:r>
              <a:rPr lang="en-US" altLang="ko-KR" sz="1000" dirty="0"/>
              <a:t>-&gt; </a:t>
            </a:r>
            <a:r>
              <a:rPr lang="ko-KR" altLang="en-US" sz="2000" dirty="0"/>
              <a:t>나는 학교에 간다</a:t>
            </a:r>
            <a:endParaRPr lang="en-US" altLang="ko-KR" sz="2000" dirty="0"/>
          </a:p>
          <a:p>
            <a:pPr marL="0" indent="0" algn="r">
              <a:buNone/>
            </a:pPr>
            <a:endParaRPr lang="en-US" altLang="ko-KR" sz="2000" dirty="0"/>
          </a:p>
          <a:p>
            <a:pPr marL="0" indent="0" algn="r">
              <a:buNone/>
            </a:pPr>
            <a:r>
              <a:rPr lang="en-US" altLang="ko-KR" sz="1300" dirty="0">
                <a:solidFill>
                  <a:schemeClr val="accent6">
                    <a:lumMod val="75000"/>
                  </a:schemeClr>
                </a:solidFill>
              </a:rPr>
              <a:t>Hidden state : </a:t>
            </a:r>
            <a:r>
              <a:rPr lang="ko-KR" altLang="en-US" sz="1300" dirty="0">
                <a:solidFill>
                  <a:schemeClr val="accent6">
                    <a:lumMod val="75000"/>
                  </a:schemeClr>
                </a:solidFill>
              </a:rPr>
              <a:t>이전 단어들의 정보를 담는 </a:t>
            </a:r>
            <a:r>
              <a:rPr lang="ko-KR" altLang="en-US" sz="1300" dirty="0">
                <a:solidFill>
                  <a:srgbClr val="FF0000"/>
                </a:solidFill>
              </a:rPr>
              <a:t>고정된</a:t>
            </a:r>
            <a:r>
              <a:rPr lang="ko-KR" altLang="en-US" sz="1300" dirty="0">
                <a:solidFill>
                  <a:schemeClr val="accent6">
                    <a:lumMod val="75000"/>
                  </a:schemeClr>
                </a:solidFill>
              </a:rPr>
              <a:t> 벡터</a:t>
            </a:r>
            <a:endParaRPr lang="en-US" altLang="ko-KR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99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9D2C1-991E-2C1F-4D38-259011645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  <a:r>
              <a:rPr lang="ko-KR" altLang="en-US" dirty="0"/>
              <a:t> 등장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FE2E0-68E4-C947-B69B-42B3D72D1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똑같은 </a:t>
            </a:r>
            <a:r>
              <a:rPr lang="en-US" altLang="ko-KR" dirty="0"/>
              <a:t>Auto-Regressive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ko-KR" altLang="en-US" dirty="0">
                <a:solidFill>
                  <a:srgbClr val="00B0F0"/>
                </a:solidFill>
              </a:rPr>
              <a:t>병렬적</a:t>
            </a:r>
            <a:r>
              <a:rPr lang="en-US" altLang="ko-KR" sz="1500" dirty="0">
                <a:solidFill>
                  <a:srgbClr val="00B0F0"/>
                </a:solidFill>
              </a:rPr>
              <a:t>(self-attention)</a:t>
            </a:r>
          </a:p>
          <a:p>
            <a:endParaRPr lang="ko-KR" altLang="en-US" sz="1500" dirty="0">
              <a:solidFill>
                <a:srgbClr val="00B0F0"/>
              </a:solidFill>
            </a:endParaRPr>
          </a:p>
        </p:txBody>
      </p:sp>
      <p:pic>
        <p:nvPicPr>
          <p:cNvPr id="1028" name="Picture 4" descr="16-01 트랜스포머(Transformer) - 딥 러닝을 이용한 자연어 처리 입문">
            <a:extLst>
              <a:ext uri="{FF2B5EF4-FFF2-40B4-BE49-F238E27FC236}">
                <a16:creationId xmlns:a16="http://schemas.microsoft.com/office/drawing/2014/main" id="{99F763B8-8D71-4999-88AB-FC265C471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30926"/>
            <a:ext cx="562927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63E682-C328-1BF4-1999-71D0B9178F27}"/>
              </a:ext>
            </a:extLst>
          </p:cNvPr>
          <p:cNvSpPr txBox="1"/>
          <p:nvPr/>
        </p:nvSpPr>
        <p:spPr>
          <a:xfrm>
            <a:off x="7735260" y="3025534"/>
            <a:ext cx="44567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&lt;</a:t>
            </a:r>
            <a:r>
              <a:rPr lang="en-US" altLang="ko-KR" sz="2400" b="1" dirty="0" err="1"/>
              <a:t>Transfomer</a:t>
            </a:r>
            <a:r>
              <a:rPr lang="ko-KR" altLang="en-US" sz="2400" b="1" dirty="0"/>
              <a:t>의 장점</a:t>
            </a:r>
            <a:r>
              <a:rPr lang="en-US" altLang="ko-KR" sz="2400" b="1" dirty="0"/>
              <a:t>&gt;</a:t>
            </a:r>
          </a:p>
          <a:p>
            <a:endParaRPr lang="en-US" altLang="ko-KR" sz="2400" b="1" dirty="0"/>
          </a:p>
          <a:p>
            <a:r>
              <a:rPr lang="en-US" altLang="ko-KR" sz="2400" dirty="0"/>
              <a:t> 1) </a:t>
            </a:r>
            <a:r>
              <a:rPr lang="ko-KR" altLang="en-US" sz="2400" dirty="0"/>
              <a:t>우수한 병렬처리 기능</a:t>
            </a:r>
            <a:endParaRPr lang="en-US" altLang="ko-KR" sz="2400" dirty="0"/>
          </a:p>
          <a:p>
            <a:r>
              <a:rPr lang="en-US" altLang="ko-KR" sz="2400" dirty="0"/>
              <a:t> 2) </a:t>
            </a:r>
            <a:r>
              <a:rPr lang="ko-KR" altLang="en-US" sz="2400" dirty="0"/>
              <a:t>빠른 학습속도</a:t>
            </a:r>
            <a:endParaRPr lang="en-US" altLang="ko-KR" sz="2400" dirty="0"/>
          </a:p>
          <a:p>
            <a:r>
              <a:rPr lang="en-US" altLang="ko-KR" sz="2400" dirty="0"/>
              <a:t> 3) </a:t>
            </a:r>
            <a:r>
              <a:rPr lang="ko-KR" altLang="en-US" sz="2400" dirty="0"/>
              <a:t>장거리 의존성</a:t>
            </a:r>
          </a:p>
        </p:txBody>
      </p:sp>
    </p:spTree>
    <p:extLst>
      <p:ext uri="{BB962C8B-B14F-4D97-AF65-F5344CB8AC3E}">
        <p14:creationId xmlns:p14="http://schemas.microsoft.com/office/powerpoint/2010/main" val="903949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7737B-DFD2-8273-8D80-09EDF565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Transfomer</a:t>
            </a:r>
            <a:r>
              <a:rPr lang="ko-KR" altLang="en-US" dirty="0"/>
              <a:t>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8C6C9F-DC78-E81B-70F3-E72D99E2A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Encoder</a:t>
            </a:r>
            <a:r>
              <a:rPr lang="ko-KR" altLang="en-US" dirty="0"/>
              <a:t>와 </a:t>
            </a:r>
            <a:r>
              <a:rPr lang="en-US" altLang="ko-KR" dirty="0"/>
              <a:t>Decoder</a:t>
            </a:r>
            <a:endParaRPr lang="ko-KR" altLang="en-US" dirty="0"/>
          </a:p>
        </p:txBody>
      </p:sp>
      <p:pic>
        <p:nvPicPr>
          <p:cNvPr id="4" name="그림 3" descr="텍스트, 도표, 평면도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34EE933-E156-9DC2-234F-47081764BA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531" y="88500"/>
            <a:ext cx="4810425" cy="665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38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B795A-E47B-93E5-2112-0CFDFEF4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Encoder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E8BBB1-1109-1D2E-120A-1CB1F55B3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9145" y="1825625"/>
            <a:ext cx="10515600" cy="4351338"/>
          </a:xfrm>
        </p:spPr>
        <p:txBody>
          <a:bodyPr/>
          <a:lstStyle/>
          <a:p>
            <a:pPr marL="1193800" latinLnBrk="1">
              <a:buNone/>
            </a:pP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 Multi-Head Self-Attention</a:t>
            </a:r>
            <a:endParaRPr lang="ko-KR" altLang="ko-KR" sz="18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93800" latinLnBrk="1">
              <a:buNone/>
            </a:pP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Add &amp; Norm (</a:t>
            </a:r>
            <a:r>
              <a:rPr lang="ko-KR" altLang="ko-KR" sz="18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잔차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연결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+ </a:t>
            </a:r>
            <a:r>
              <a:rPr lang="en-US" altLang="ko-KR" sz="18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LayerNorm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8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524000" latinLnBrk="1">
              <a:buNone/>
            </a:pP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ko-KR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잔차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연결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원래 입력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+ Attention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결과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en-US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LayerNorm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정규화 수행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193800" latinLnBrk="1">
              <a:buNone/>
            </a:pP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 </a:t>
            </a:r>
            <a:r>
              <a:rPr lang="en-US" altLang="ko-KR" sz="1800" b="1" kern="1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Position-wise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Feed Forward Network (FFN)</a:t>
            </a:r>
            <a:endParaRPr lang="ko-KR" altLang="ko-KR" sz="18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93800" latinLnBrk="1">
              <a:buNone/>
            </a:pPr>
            <a:r>
              <a:rPr lang="en-US" altLang="ko-KR" sz="18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-&gt; </a:t>
            </a:r>
            <a:r>
              <a:rPr lang="ko-KR" altLang="ko-KR" sz="18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 단어 위치마다 독립적으로 적용되는 완전 연결 신경망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indent="0" latinLnBrk="1">
              <a:spcAft>
                <a:spcPts val="800"/>
              </a:spcAft>
              <a:buNone/>
            </a:pP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Add &amp; Norm (</a:t>
            </a:r>
            <a:r>
              <a:rPr lang="ko-KR" altLang="ko-KR" sz="18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잔차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연결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+ </a:t>
            </a:r>
            <a:r>
              <a:rPr lang="en-US" altLang="ko-KR" sz="18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LayerNorm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8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27C9A2-BE6B-5670-E592-55ABC7296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472" y="954659"/>
            <a:ext cx="4319363" cy="512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21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280B3-F40B-BFBC-E36E-B1415ED0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Decoder</a:t>
            </a:r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0A70CF1-4E1E-4C4B-8C03-D6825D665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42900" lvl="0" indent="-342900" latinLnBrk="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Masked Multi-Head Self-Attention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이전에 생성된 </a:t>
            </a:r>
            <a:r>
              <a:rPr lang="ko-KR" altLang="ko-KR" sz="1800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단어까지만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보게 </a:t>
            </a:r>
            <a:r>
              <a:rPr lang="ko-KR" altLang="ko-KR" sz="1800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마스킹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후 각 단어들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self-attention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Add &amp; Norm (</a:t>
            </a:r>
            <a:r>
              <a:rPr lang="ko-KR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잔차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연결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+ </a:t>
            </a:r>
            <a:r>
              <a:rPr lang="en-US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LayerNorm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)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ko-KR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잔차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연결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원래 입력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+ Masked Attention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결과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en-US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LayerNorm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정규화 수행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Encoder-Decoder Multi-Head Attention </a:t>
            </a:r>
            <a:r>
              <a:rPr lang="en-US" altLang="ko-KR" sz="1800" b="1" kern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(Cross Attention)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Encoder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의 출력</a:t>
            </a:r>
            <a:r>
              <a:rPr lang="en-US" altLang="ko-KR" sz="1800" kern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(Context Vector)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과 연관된 정보에 </a:t>
            </a:r>
            <a:r>
              <a:rPr lang="ko-KR" altLang="ko-KR" sz="1800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어텐션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수행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Query: Decoder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출력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/ Key, Value: Encoder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출력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Add &amp; Norm (</a:t>
            </a:r>
            <a:r>
              <a:rPr lang="ko-KR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잔차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연결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+ </a:t>
            </a:r>
            <a:r>
              <a:rPr lang="en-US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LayerNorm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)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ko-KR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잔차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연결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이전 단계 입력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+ Cross Attention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결과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en-US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LayerNorm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정규화 수행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Position-wise Feed Forward Network (FFN)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각 단어 위치마다 독립적으로 적용되는 완전 연결 신경망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일반적으로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2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개의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Linear + ReLU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0">
              <a:lnSpc>
                <a:spcPct val="12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Add &amp; Norm (</a:t>
            </a:r>
            <a:r>
              <a:rPr lang="ko-KR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잔차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연결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+ </a:t>
            </a:r>
            <a:r>
              <a:rPr lang="en-US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LayerNorm</a:t>
            </a:r>
            <a:r>
              <a:rPr lang="en-US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)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ko-KR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잔차</a:t>
            </a: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연결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FFN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입력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+ FFN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출력</a:t>
            </a:r>
            <a:b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→ </a:t>
            </a:r>
            <a:r>
              <a:rPr lang="en-US" altLang="ko-KR" sz="1800" b="1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LayerNorm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정규화 수행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E47E5A-10B2-93A9-EDAD-E7C9A4367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997" y="124820"/>
            <a:ext cx="3776205" cy="660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420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도표, 평면도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F39F0FB-BA8F-DF0D-71A6-E36703C6B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635" y="161571"/>
            <a:ext cx="4721565" cy="65348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869AE3-1C05-01E7-03FF-AA22B1A5C017}"/>
              </a:ext>
            </a:extLst>
          </p:cNvPr>
          <p:cNvSpPr txBox="1"/>
          <p:nvPr/>
        </p:nvSpPr>
        <p:spPr>
          <a:xfrm>
            <a:off x="3638550" y="2255838"/>
            <a:ext cx="1562100" cy="3231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</a:rPr>
              <a:t>Context Vector</a:t>
            </a:r>
            <a:endParaRPr lang="ko-KR" altLang="en-US" sz="1500" b="1" dirty="0">
              <a:solidFill>
                <a:srgbClr val="FF0000"/>
              </a:solidFill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F9423824-E08A-518E-166E-531B6EF7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797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2A342-9CC2-BC73-8C4D-66684639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Self-Attention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07C97F-9473-22EA-244F-19C45E2E0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쓰는 목적</a:t>
            </a:r>
          </a:p>
          <a:p>
            <a:pPr marL="1193800" latinLnBrk="1">
              <a:buNone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단어들이 서로 어떤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ko-KR" sz="1800" kern="1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있는지 도출하기 위해서</a:t>
            </a: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구조</a:t>
            </a:r>
          </a:p>
          <a:p>
            <a:pPr marL="1244600" latinLnBrk="1">
              <a:buNone/>
            </a:pP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Query(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내가 궁금한 것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Key-Value 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쌍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정보들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사이의 유사도를 계산해서 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Value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들을 조합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8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가중합</a:t>
            </a:r>
            <a:r>
              <a:rPr lang="en-US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 결과 벡터를 생성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하는 구조다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44600" latinLnBrk="1">
              <a:buNone/>
            </a:pPr>
            <a:r>
              <a:rPr lang="en-US" altLang="ko-KR" sz="12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**Q, K, V</a:t>
            </a:r>
            <a:r>
              <a:rPr lang="ko-KR" altLang="ko-KR" sz="12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문장의 각 단어에 대해서 전부 뽑아낸다</a:t>
            </a:r>
            <a:r>
              <a:rPr lang="en-US" altLang="ko-KR" sz="12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**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44600" latinLnBrk="1">
              <a:buNone/>
            </a:pPr>
            <a:r>
              <a:rPr lang="en-US" altLang="ko-KR" sz="12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Q = </a:t>
            </a:r>
            <a:r>
              <a:rPr lang="ko-KR" altLang="ko-KR" sz="12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내가 </a:t>
            </a:r>
            <a:r>
              <a:rPr lang="ko-KR" altLang="ko-KR" sz="1200" kern="100" dirty="0" err="1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누구한테</a:t>
            </a:r>
            <a:r>
              <a:rPr lang="ko-KR" altLang="ko-KR" sz="12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주목할지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44600" latinLnBrk="1">
              <a:buNone/>
            </a:pPr>
            <a:r>
              <a:rPr lang="en-US" altLang="ko-KR" sz="12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K = </a:t>
            </a:r>
            <a:r>
              <a:rPr lang="ko-KR" altLang="ko-KR" sz="12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 단어가 어떤 특성을 갖는지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016000" indent="0" latinLnBrk="1">
              <a:spcAft>
                <a:spcPts val="800"/>
              </a:spcAft>
              <a:buNone/>
            </a:pPr>
            <a:r>
              <a:rPr lang="en-US" altLang="ko-KR" sz="12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V = </a:t>
            </a:r>
            <a:r>
              <a:rPr lang="ko-KR" altLang="ko-KR" sz="12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 단어의 실제 정보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9882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533F9-D789-9FFE-9977-1E7F9DD65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Scaled Dot-Product Attention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E6ADC9-5FF4-9159-97E4-517CEB2A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쓰는 이유</a:t>
            </a:r>
          </a:p>
          <a:p>
            <a:pPr marL="1193800" latinLnBrk="1"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학습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안전성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구조</a:t>
            </a: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Matmul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en-US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Qurery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Key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내적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-&gt;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유사도 점수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(score)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Scaled: √dk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나눔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→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값이 너무 커지는 걸 방지</a:t>
            </a: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SoftMax: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위에 구한 점수를 확률로 바꿈</a:t>
            </a:r>
          </a:p>
          <a:p>
            <a:pPr marL="1524000" latinLnBrk="1"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(Mask(opt.):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필요할 경우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Masking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함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MatMul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구한 확률을 기반으로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Value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섞어서 새로운 벡터 만듦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9" name="그림 8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CB0A74-90B9-0E82-62F1-CC3FB27617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974" y="1523378"/>
            <a:ext cx="3388938" cy="429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8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51083-015E-C892-DE81-843B1C16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Scaled Dot-Product Attention</a:t>
            </a:r>
            <a:endParaRPr lang="ko-KR" altLang="en-US" dirty="0"/>
          </a:p>
        </p:txBody>
      </p:sp>
      <p:pic>
        <p:nvPicPr>
          <p:cNvPr id="19" name="내용 개체 틀 18">
            <a:extLst>
              <a:ext uri="{FF2B5EF4-FFF2-40B4-BE49-F238E27FC236}">
                <a16:creationId xmlns:a16="http://schemas.microsoft.com/office/drawing/2014/main" id="{C5B91BE0-162E-92FC-70C5-31DC6EA1B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8098" y="1597979"/>
            <a:ext cx="5966902" cy="5260021"/>
          </a:xfrm>
        </p:spPr>
      </p:pic>
    </p:spTree>
    <p:extLst>
      <p:ext uri="{BB962C8B-B14F-4D97-AF65-F5344CB8AC3E}">
        <p14:creationId xmlns:p14="http://schemas.microsoft.com/office/powerpoint/2010/main" val="2281678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3D0FD-606B-C902-5199-5B2FF7F6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Multi-Head Attention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DACFDD-2981-509A-C326-14F847AE6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ko-KR" altLang="ko-KR" sz="18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쓰는 이유 </a:t>
            </a:r>
          </a:p>
          <a:p>
            <a:pPr marL="1244600" latinLnBrk="1"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head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란 한 관점에서 주목하는 사람으로 볼 수 있는데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Multi-head attention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여러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head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써서 같은 문장을 병렬로 서로 다른 관점으로 처리하여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다양한 의미에 집중할 수 있음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구조</a:t>
            </a: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Linear: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Q, K, V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여러 조각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(head)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나눔</a:t>
            </a: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Scaled Dot-Product Attention: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head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Scaled Dot-Product Attention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수행</a:t>
            </a: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Concat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모든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head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결과를 합침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Linear: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출력 틀을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맞춰줌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 descr="텍스트, 스크린샷, 도표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CEA4B66-E4EE-05D6-B6B4-7A18581B7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872" y="3160060"/>
            <a:ext cx="228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01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3" descr="텍스트, 도표, 평면도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5AB01A-5E2E-F67D-E31C-E4F40FE31B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130" y="2380795"/>
            <a:ext cx="3234870" cy="44772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61D02F-0C10-3273-B85F-07F2A2AD1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Position-wise </a:t>
            </a:r>
            <a:r>
              <a:rPr lang="en-US" altLang="ko-KR" dirty="0" err="1"/>
              <a:t>FeedForword</a:t>
            </a:r>
            <a:r>
              <a:rPr lang="en-US" altLang="ko-KR" dirty="0"/>
              <a:t> Network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70B454-8E81-1084-8069-BDD16645B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latinLnBrk="0">
              <a:buFont typeface="Wingdings" panose="05000000000000000000" pitchFamily="2" charset="2"/>
              <a:buChar char=""/>
            </a:pP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쓰는 목적</a:t>
            </a:r>
            <a:endParaRPr lang="ko-KR" altLang="ko-KR" sz="18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44600" latinLnBrk="0">
              <a:buNone/>
            </a:pP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Attention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으로 얻은 </a:t>
            </a:r>
            <a:r>
              <a:rPr lang="ko-KR" altLang="ko-KR" sz="1800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단어들끼리의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‘</a:t>
            </a:r>
            <a:r>
              <a:rPr lang="ko-KR" altLang="ko-KR" sz="1800" kern="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관계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’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는 잡아주지만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,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그 단어 자체의 의미나 특징을 더 깊게 가공하지 않음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.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그래서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FFN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으로 그 단어 자체의 의미를 더 풍부하게 </a:t>
            </a:r>
            <a:r>
              <a:rPr lang="ko-KR" altLang="ko-KR" sz="1800" kern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만들어줌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.</a:t>
            </a:r>
          </a:p>
          <a:p>
            <a:pPr marL="1244600" latinLnBrk="0">
              <a:buNone/>
            </a:pPr>
            <a:r>
              <a:rPr lang="en-US" altLang="ko-KR" sz="1800" kern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</a:t>
            </a:r>
            <a:r>
              <a:rPr lang="en-US" altLang="ko-KR" sz="1800" u="sng" kern="0" baseline="-5000" dirty="0">
                <a:effectLst/>
                <a:cs typeface="굴림" panose="020B0600000101010101" pitchFamily="50" charset="-127"/>
              </a:rPr>
              <a:t>Position-wise</a:t>
            </a:r>
            <a:r>
              <a:rPr lang="ko-KR" altLang="en-US" sz="1800" kern="0" baseline="-5000" dirty="0">
                <a:cs typeface="굴림" panose="020B0600000101010101" pitchFamily="50" charset="-127"/>
              </a:rPr>
              <a:t>：</a:t>
            </a:r>
            <a:r>
              <a:rPr lang="en-US" altLang="ko-KR" sz="1800" kern="0" baseline="-5000" dirty="0">
                <a:effectLst/>
                <a:cs typeface="굴림" panose="020B0600000101010101" pitchFamily="50" charset="-127"/>
              </a:rPr>
              <a:t> </a:t>
            </a:r>
            <a:r>
              <a:rPr lang="ko-KR" altLang="en-US" sz="1800" kern="0" baseline="-5000" dirty="0">
                <a:effectLst/>
                <a:cs typeface="Times New Roman" panose="02020603050405020304" pitchFamily="18" charset="0"/>
              </a:rPr>
              <a:t>각　</a:t>
            </a:r>
            <a:r>
              <a:rPr lang="ko-KR" altLang="en-US" sz="1800" kern="0" baseline="-5000" dirty="0" err="1">
                <a:effectLst/>
                <a:cs typeface="Times New Roman" panose="02020603050405020304" pitchFamily="18" charset="0"/>
              </a:rPr>
              <a:t>포지션（토큰위치）마다</a:t>
            </a:r>
            <a:r>
              <a:rPr lang="ko-KR" altLang="en-US" sz="1800" kern="0" baseline="-5000" dirty="0">
                <a:effectLst/>
                <a:cs typeface="Times New Roman" panose="02020603050405020304" pitchFamily="18" charset="0"/>
              </a:rPr>
              <a:t>　동일한　</a:t>
            </a:r>
            <a:r>
              <a:rPr lang="en-US" altLang="ko-KR" sz="1800" baseline="-5000" dirty="0" err="1"/>
              <a:t>FeedForword</a:t>
            </a:r>
            <a:r>
              <a:rPr lang="ko-KR" altLang="en-US" sz="1800" baseline="-5000" dirty="0"/>
              <a:t>을　독립적으로　적용</a:t>
            </a:r>
            <a:r>
              <a:rPr lang="ko-KR" altLang="en-US" sz="1800" kern="0" baseline="-5000" dirty="0">
                <a:effectLst/>
                <a:cs typeface="Times New Roman" panose="02020603050405020304" pitchFamily="18" charset="0"/>
              </a:rPr>
              <a:t>　</a:t>
            </a:r>
            <a:endParaRPr lang="ko-KR" altLang="ko-KR" sz="1800" kern="100" baseline="-5000" dirty="0">
              <a:effectLst/>
              <a:cs typeface="Times New Roman" panose="02020603050405020304" pitchFamily="18" charset="0"/>
            </a:endParaRPr>
          </a:p>
          <a:p>
            <a:pPr marL="342900" lvl="0" indent="-342900" latinLnBrk="0"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구조</a:t>
            </a:r>
            <a:endParaRPr lang="ko-KR" altLang="ko-KR" sz="18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800" kern="0" dirty="0"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ko-KR" sz="1800" kern="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선형 변환</a:t>
            </a:r>
            <a:r>
              <a:rPr lang="en-US" altLang="ko-KR" sz="1800" kern="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-&gt; ReLU -&gt; </a:t>
            </a:r>
            <a:r>
              <a:rPr lang="ko-KR" altLang="ko-KR" sz="1800" kern="0" dirty="0">
                <a:effectLst/>
                <a:ea typeface="맑은 고딕" panose="020B0503020000020004" pitchFamily="50" charset="-127"/>
                <a:cs typeface="굴림" panose="020B0600000101010101" pitchFamily="50" charset="-127"/>
              </a:rPr>
              <a:t>선형 변환</a:t>
            </a:r>
            <a:endParaRPr lang="en-US" altLang="ko-KR" sz="1800" kern="0" dirty="0">
              <a:effectLst/>
              <a:ea typeface="맑은 고딕" panose="020B0503020000020004" pitchFamily="50" charset="-127"/>
              <a:cs typeface="굴림" panose="020B0600000101010101" pitchFamily="50" charset="-127"/>
            </a:endParaRPr>
          </a:p>
          <a:p>
            <a:pPr>
              <a:buNone/>
            </a:pPr>
            <a:endParaRPr lang="en-US" altLang="ko-KR" sz="1800" kern="0" dirty="0">
              <a:ea typeface="맑은 고딕" panose="020B0503020000020004" pitchFamily="50" charset="-127"/>
            </a:endParaRPr>
          </a:p>
          <a:p>
            <a:pPr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05B1E8-15FB-39C7-4759-8C761F95B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452" y="4386591"/>
            <a:ext cx="5486143" cy="656127"/>
          </a:xfrm>
          <a:prstGeom prst="rect">
            <a:avLst/>
          </a:prstGeom>
        </p:spPr>
      </p:pic>
      <p:pic>
        <p:nvPicPr>
          <p:cNvPr id="5" name="그림 4" descr="폰트, 타이포그래피, 텍스트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63E4C2-8B46-5728-89F1-561D8A517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454" y="5042718"/>
            <a:ext cx="5486141" cy="9703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722494D-E02F-B2D6-706D-71D5AB1FDA80}"/>
                  </a:ext>
                </a:extLst>
              </p14:cNvPr>
              <p14:cNvContentPartPr/>
              <p14:nvPr/>
            </p14:nvContentPartPr>
            <p14:xfrm>
              <a:off x="9633899" y="4386591"/>
              <a:ext cx="648000" cy="40212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722494D-E02F-B2D6-706D-71D5AB1FDA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27779" y="4380471"/>
                <a:ext cx="66024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53253549-AE17-19A1-CE30-9BC53C2A2E69}"/>
                  </a:ext>
                </a:extLst>
              </p14:cNvPr>
              <p14:cNvContentPartPr/>
              <p14:nvPr/>
            </p14:nvContentPartPr>
            <p14:xfrm>
              <a:off x="10503299" y="3695391"/>
              <a:ext cx="893880" cy="37836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53253549-AE17-19A1-CE30-9BC53C2A2E6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97179" y="3689271"/>
                <a:ext cx="90612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7CFDD0A1-F5C7-3C5C-3AC6-6D6C56C92283}"/>
                  </a:ext>
                </a:extLst>
              </p14:cNvPr>
              <p14:cNvContentPartPr/>
              <p14:nvPr/>
            </p14:nvContentPartPr>
            <p14:xfrm>
              <a:off x="9297299" y="4323951"/>
              <a:ext cx="259200" cy="2307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7CFDD0A1-F5C7-3C5C-3AC6-6D6C56C922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91179" y="4317831"/>
                <a:ext cx="271440" cy="2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0487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3D9FD-315B-3C15-35B4-FF8232444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Positional</a:t>
            </a:r>
            <a:r>
              <a:rPr lang="ko-KR" altLang="en-US" dirty="0"/>
              <a:t> </a:t>
            </a:r>
            <a:r>
              <a:rPr lang="en-US" altLang="ko-KR" dirty="0"/>
              <a:t>Encoding</a:t>
            </a:r>
            <a:endParaRPr lang="ko-KR" altLang="en-US" dirty="0"/>
          </a:p>
        </p:txBody>
      </p:sp>
      <p:pic>
        <p:nvPicPr>
          <p:cNvPr id="4" name="내용 개체 틀 3" descr="텍스트, 도표, 평면도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D0CBDD1-EA60-3957-E8D1-08B25917F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864" y="365125"/>
            <a:ext cx="4619965" cy="6394238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1F232AA2-F21B-C40D-B25F-C342AFF3AC6C}"/>
              </a:ext>
            </a:extLst>
          </p:cNvPr>
          <p:cNvGrpSpPr/>
          <p:nvPr/>
        </p:nvGrpSpPr>
        <p:grpSpPr>
          <a:xfrm>
            <a:off x="7068899" y="4932351"/>
            <a:ext cx="1377720" cy="684720"/>
            <a:chOff x="7068899" y="4932351"/>
            <a:chExt cx="1377720" cy="68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D573BBC-2F3D-EC85-C630-57C1AC0967E0}"/>
                    </a:ext>
                  </a:extLst>
                </p14:cNvPr>
                <p14:cNvContentPartPr/>
                <p14:nvPr/>
              </p14:nvContentPartPr>
              <p14:xfrm>
                <a:off x="7345379" y="4992831"/>
                <a:ext cx="1101240" cy="6242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D573BBC-2F3D-EC85-C630-57C1AC0967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39259" y="4986711"/>
                  <a:ext cx="111348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035771C-BD7A-8DCF-2B3F-09D74BDE59C3}"/>
                    </a:ext>
                  </a:extLst>
                </p14:cNvPr>
                <p14:cNvContentPartPr/>
                <p14:nvPr/>
              </p14:nvContentPartPr>
              <p14:xfrm>
                <a:off x="7068899" y="4932351"/>
                <a:ext cx="306360" cy="2894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035771C-BD7A-8DCF-2B3F-09D74BDE59C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62779" y="4926231"/>
                  <a:ext cx="31860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732E0E7-50A4-BEC0-BCC8-4777FABB71F3}"/>
              </a:ext>
            </a:extLst>
          </p:cNvPr>
          <p:cNvGrpSpPr/>
          <p:nvPr/>
        </p:nvGrpSpPr>
        <p:grpSpPr>
          <a:xfrm>
            <a:off x="10763579" y="4863951"/>
            <a:ext cx="1177560" cy="846000"/>
            <a:chOff x="10763579" y="4863951"/>
            <a:chExt cx="1177560" cy="84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93BEF2B-8F67-5375-860A-9B470D1928F6}"/>
                    </a:ext>
                  </a:extLst>
                </p14:cNvPr>
                <p14:cNvContentPartPr/>
                <p14:nvPr/>
              </p14:nvContentPartPr>
              <p14:xfrm>
                <a:off x="10763579" y="5039991"/>
                <a:ext cx="1177560" cy="6699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93BEF2B-8F67-5375-860A-9B470D1928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57459" y="5033871"/>
                  <a:ext cx="118980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0B1FF2E-0F00-547F-15AD-99A8B7CCD732}"/>
                    </a:ext>
                  </a:extLst>
                </p14:cNvPr>
                <p14:cNvContentPartPr/>
                <p14:nvPr/>
              </p14:nvContentPartPr>
              <p14:xfrm>
                <a:off x="11571059" y="4863951"/>
                <a:ext cx="93960" cy="3232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0B1FF2E-0F00-547F-15AD-99A8B7CCD73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64939" y="4857831"/>
                  <a:ext cx="106200" cy="335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4F0B2D7-28A0-6224-6F8B-3F94972CAECC}"/>
              </a:ext>
            </a:extLst>
          </p:cNvPr>
          <p:cNvSpPr txBox="1"/>
          <p:nvPr/>
        </p:nvSpPr>
        <p:spPr>
          <a:xfrm>
            <a:off x="838200" y="1849080"/>
            <a:ext cx="6700478" cy="157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latinLnBrk="0">
              <a:buFont typeface="Wingdings" panose="05000000000000000000" pitchFamily="2" charset="2"/>
              <a:buChar char=""/>
            </a:pPr>
            <a:r>
              <a:rPr lang="ko-KR" altLang="ko-KR" sz="1800" b="1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쓰는 이유</a:t>
            </a:r>
            <a:endParaRPr lang="ko-KR" altLang="ko-KR" sz="18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44600" latinLnBrk="0">
              <a:spcAft>
                <a:spcPts val="800"/>
              </a:spcAft>
            </a:pP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attention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은 순서를 알아보지 못한다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.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근데 언어는 단어 순서에 따라 뜻이 달라진다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. 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따라서 순서를 이해할 수 있도록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Positional Encoding</a:t>
            </a:r>
            <a:r>
              <a:rPr lang="ko-KR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을 한다</a:t>
            </a:r>
            <a:r>
              <a:rPr lang="en-US" altLang="ko-KR" sz="1800" kern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769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13FF9-EA06-58F6-6270-13268763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self-attention?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B2FEDB-27DD-FAB3-ACD9-704DA28FF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19503"/>
            <a:ext cx="11095104" cy="3319502"/>
          </a:xfrm>
        </p:spPr>
        <p:txBody>
          <a:bodyPr>
            <a:normAutofit fontScale="85000" lnSpcReduction="20000"/>
          </a:bodyPr>
          <a:lstStyle/>
          <a:p>
            <a:pPr marL="342900" lvl="0" indent="-342900" latinLnBrk="1">
              <a:buFont typeface="+mj-lt"/>
              <a:buAutoNum type="arabicParenR"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계층별 전체 계산 복잡도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(Complexity per Layer)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Self-attention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각 단어들이 모든 단어들에 대해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attention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하므로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O(n^2*d).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RNN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각 단어에 대해 한번씩 연산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(n)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하고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 연산은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hidden state(d)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 입력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(d)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곱이므로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O(n*d^2)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CNN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O(k*n*d^2)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Restricted self-attention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O(r*n*d)</a:t>
            </a:r>
          </a:p>
          <a:p>
            <a:pPr marL="0" indent="0" algn="r">
              <a:buNone/>
            </a:pPr>
            <a:r>
              <a:rPr lang="en-US" altLang="ko-KR" sz="13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Restricted self-attention : </a:t>
            </a:r>
            <a:r>
              <a:rPr lang="ko-KR" altLang="ko-KR" sz="13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 토큰이 자신을 중심으로 반경 </a:t>
            </a:r>
            <a:r>
              <a:rPr lang="en-US" altLang="ko-KR" sz="13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 </a:t>
            </a:r>
            <a:r>
              <a:rPr lang="ko-KR" altLang="ko-KR" sz="13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내의 토큰들만 </a:t>
            </a:r>
            <a:r>
              <a:rPr lang="en-US" altLang="ko-KR" sz="13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attention(</a:t>
            </a:r>
            <a:r>
              <a:rPr lang="ko-KR" altLang="ko-KR" sz="13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슬라이딩 윈도우 방식</a:t>
            </a:r>
            <a:r>
              <a:rPr lang="en-US" altLang="ko-KR" sz="1300" kern="100" dirty="0">
                <a:solidFill>
                  <a:srgbClr val="008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3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43000" indent="50800" latinLnBrk="1"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순위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&gt;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Restricted self-attention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RNN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CNN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Self-attention  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>
                <a:solidFill>
                  <a:srgbClr val="00B0F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병렬 가능해서 단점 커버</a:t>
            </a:r>
          </a:p>
          <a:p>
            <a:endParaRPr lang="ko-KR" altLang="en-US" dirty="0"/>
          </a:p>
        </p:txBody>
      </p:sp>
      <p:pic>
        <p:nvPicPr>
          <p:cNvPr id="7" name="그림 6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EA9698B-554E-F47A-9443-4C6DB5BC9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68329"/>
            <a:ext cx="8130688" cy="16768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442FA8-25BF-9DEF-B230-527C12F111B0}"/>
              </a:ext>
            </a:extLst>
          </p:cNvPr>
          <p:cNvSpPr txBox="1"/>
          <p:nvPr/>
        </p:nvSpPr>
        <p:spPr>
          <a:xfrm>
            <a:off x="7038575" y="627649"/>
            <a:ext cx="5424928" cy="84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65200" latinLnBrk="1">
              <a:buNone/>
            </a:pP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 =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길이</a:t>
            </a:r>
            <a:endParaRPr lang="en-US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latinLnBrk="1">
              <a:buNone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latinLnBrk="1">
              <a:spcAft>
                <a:spcPts val="800"/>
              </a:spcAft>
              <a:buNone/>
            </a:pP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 =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벡터 차원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보통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512), -&gt;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한 단어가 숫자로 표현되는 벡터의 길이</a:t>
            </a:r>
            <a:endParaRPr lang="en-US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latinLnBrk="1">
              <a:spcAft>
                <a:spcPts val="800"/>
              </a:spcAft>
              <a:buNone/>
            </a:pPr>
            <a:r>
              <a:rPr lang="en-US" altLang="ko-KR" sz="10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k = convolution </a:t>
            </a:r>
            <a:r>
              <a:rPr lang="ko-KR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커널 크기</a:t>
            </a:r>
            <a:r>
              <a:rPr lang="en-US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필터</a:t>
            </a:r>
            <a:r>
              <a:rPr lang="en-US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); </a:t>
            </a:r>
            <a:r>
              <a:rPr lang="ko-KR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한번에 처리할 연속된 단어의 수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40323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17843-2D57-CBD5-FA94-94BD5FD8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FDB5B-FDFF-B3E7-8FA8-32F4C7BC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self-attention?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7CB2FA-5312-E40F-C8E6-2BC73F1E1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19503"/>
            <a:ext cx="10941424" cy="2857460"/>
          </a:xfrm>
        </p:spPr>
        <p:txBody>
          <a:bodyPr>
            <a:normAutofit/>
          </a:bodyPr>
          <a:lstStyle/>
          <a:p>
            <a:pPr marL="0" lvl="0" indent="0" latinLnBrk="1"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2)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병렬화 가능한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연산</a:t>
            </a:r>
            <a:r>
              <a:rPr lang="ko-KR" altLang="en-US" sz="18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량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(Sequential Operations)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latinLnBrk="1"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Recurrent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제외하고 나머지 전부 연산을 병렬로 한번에 처리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Recurrent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순차적으로 단어들을 처리하므로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개를 입력하면 순차적으로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 연산한다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EBAE1BD-5624-484D-23AF-6666CC6A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8329"/>
            <a:ext cx="8130688" cy="16768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4F11A2-1329-0184-CB3A-30D800664148}"/>
              </a:ext>
            </a:extLst>
          </p:cNvPr>
          <p:cNvSpPr txBox="1"/>
          <p:nvPr/>
        </p:nvSpPr>
        <p:spPr>
          <a:xfrm>
            <a:off x="7038575" y="627649"/>
            <a:ext cx="5424928" cy="84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65200" latinLnBrk="1">
              <a:buNone/>
            </a:pP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 =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길이</a:t>
            </a:r>
            <a:endParaRPr lang="en-US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latinLnBrk="1">
              <a:buNone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latinLnBrk="1">
              <a:spcAft>
                <a:spcPts val="800"/>
              </a:spcAft>
              <a:buNone/>
            </a:pP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 =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벡터 차원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보통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512), -&gt;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한 단어가 숫자로 표현되는 벡터의 길이</a:t>
            </a:r>
            <a:endParaRPr lang="en-US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latinLnBrk="1">
              <a:spcAft>
                <a:spcPts val="800"/>
              </a:spcAft>
              <a:buNone/>
            </a:pPr>
            <a:r>
              <a:rPr lang="en-US" altLang="ko-KR" sz="10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k = convolution </a:t>
            </a:r>
            <a:r>
              <a:rPr lang="ko-KR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커널 크기</a:t>
            </a:r>
            <a:r>
              <a:rPr lang="en-US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필터</a:t>
            </a:r>
            <a:r>
              <a:rPr lang="en-US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); </a:t>
            </a:r>
            <a:r>
              <a:rPr lang="ko-KR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한번에 처리할 연속된 단어의 수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50350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1061-C9AB-1DEF-8DA0-673441406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C5755-FC39-9E62-9003-5A8A8FF7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self-attention?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94A02E-C710-04FC-A444-255D13EDC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19503"/>
            <a:ext cx="11087420" cy="3373290"/>
          </a:xfrm>
        </p:spPr>
        <p:txBody>
          <a:bodyPr>
            <a:normAutofit fontScale="92500" lnSpcReduction="20000"/>
          </a:bodyPr>
          <a:lstStyle/>
          <a:p>
            <a:pPr marL="0" lvl="0" indent="0" latinLnBrk="1">
              <a:buNone/>
            </a:pPr>
            <a:r>
              <a:rPr lang="en-US" altLang="ko-KR" sz="18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3) 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장거리 의존성 사이의 경로 길이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(Maximum Path Length); 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473200" indent="50800" latinLnBrk="1">
              <a:buNone/>
            </a:pPr>
            <a:r>
              <a:rPr lang="en-US" altLang="ko-KR" sz="11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1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문장에서 서로 멀리 떨어진 두개의 단어가 연결되기까지 </a:t>
            </a:r>
            <a:r>
              <a:rPr lang="ko-KR" altLang="ko-KR" sz="11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몇단계를</a:t>
            </a:r>
            <a:r>
              <a:rPr lang="ko-KR" altLang="ko-KR" sz="11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1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거쳐야하는</a:t>
            </a:r>
            <a:r>
              <a:rPr lang="ko-KR" altLang="ko-KR" sz="11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지</a:t>
            </a:r>
            <a:r>
              <a:rPr lang="en-US" altLang="ko-KR" sz="11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1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self-attention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각각이 모든 단어에 대해 가중치를 적용 받으므로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O(1)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1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번에 연결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RNN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두 단어 사이를 한단어씩 차례대로 거쳐가기 때문에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O(n) n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번만에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연결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CNN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convolution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층을 여러 층 쌓아서 연결하기에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O(</a:t>
            </a:r>
            <a:r>
              <a:rPr lang="en-US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logk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(n)).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Wingdings" panose="05000000000000000000" pitchFamily="2" charset="2"/>
              <a:buChar char="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Restricted self-attention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볼 수 있는 수가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r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제한되어 있어서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O(n/r)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번만에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연결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193800" latinLnBrk="1"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순위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&gt;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self-attention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CNN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Restricted self-attention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RNN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2241E2E-463F-2B9A-76C2-D771D3CB5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8329"/>
            <a:ext cx="8130688" cy="16768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8C3E9C-FC46-CCFE-9774-1C76DC698FF9}"/>
              </a:ext>
            </a:extLst>
          </p:cNvPr>
          <p:cNvSpPr txBox="1"/>
          <p:nvPr/>
        </p:nvSpPr>
        <p:spPr>
          <a:xfrm>
            <a:off x="7038575" y="627649"/>
            <a:ext cx="5424928" cy="84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65200" latinLnBrk="1">
              <a:buNone/>
            </a:pP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 =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시퀀스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입력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길이</a:t>
            </a:r>
            <a:endParaRPr lang="en-US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latinLnBrk="1">
              <a:buNone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latinLnBrk="1">
              <a:spcAft>
                <a:spcPts val="800"/>
              </a:spcAft>
              <a:buNone/>
            </a:pP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 =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벡터 차원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보통</a:t>
            </a:r>
            <a:r>
              <a:rPr lang="en-US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512), -&gt; </a:t>
            </a:r>
            <a:r>
              <a:rPr lang="ko-KR" altLang="ko-KR" sz="1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한 단어가 숫자로 표현되는 벡터의 길이</a:t>
            </a:r>
            <a:endParaRPr lang="en-US" altLang="ko-KR" sz="1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965200" latinLnBrk="1">
              <a:spcAft>
                <a:spcPts val="800"/>
              </a:spcAft>
              <a:buNone/>
            </a:pPr>
            <a:r>
              <a:rPr lang="en-US" altLang="ko-KR" sz="10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k = convolution </a:t>
            </a:r>
            <a:r>
              <a:rPr lang="ko-KR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커널 크기</a:t>
            </a:r>
            <a:r>
              <a:rPr lang="en-US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필터</a:t>
            </a:r>
            <a:r>
              <a:rPr lang="en-US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); </a:t>
            </a:r>
            <a:r>
              <a:rPr lang="ko-KR" altLang="ko-KR" sz="10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한번에 처리할 연속된 단어의 수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40196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6FB07F-9FED-CEFD-89E8-E9525F87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E9FDD-6158-C201-5086-7F24DC5F7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8000" latinLnBrk="1">
              <a:buNone/>
            </a:pP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논문에서는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Transformer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소개했다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508000" latinLnBrk="1">
              <a:buNone/>
            </a:pP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Transformer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전적으로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attention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만을 기반으로 한 최초의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sequence transduction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모델이며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기존 인코더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20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디코더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구조에서 흔히 사용되던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recurrent layers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Multi-head self-attention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대체하였다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79400" indent="0" latinLnBrk="1">
              <a:spcAft>
                <a:spcPts val="800"/>
              </a:spcAft>
              <a:buNone/>
            </a:pP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결과적으로 번역 작업에서 기존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RNN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이나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CNN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기반 모델보다 훨씬 빠르게 학습되고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장거리 의존성이 높으며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병렬처리 기능이 좋다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장점들로 향후 번역 이외에 이미지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오디오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비디오에도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Transformer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확장 적용할 계획이다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80375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1626</Words>
  <Application>Microsoft Office PowerPoint</Application>
  <PresentationFormat>와이드스크린</PresentationFormat>
  <Paragraphs>166</Paragraphs>
  <Slides>18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굴림</vt:lpstr>
      <vt:lpstr>맑은 고딕</vt:lpstr>
      <vt:lpstr>Arial</vt:lpstr>
      <vt:lpstr>Times New Roman</vt:lpstr>
      <vt:lpstr>Wingdings</vt:lpstr>
      <vt:lpstr>Office 테마</vt:lpstr>
      <vt:lpstr>Attention Is All You Need</vt:lpstr>
      <vt:lpstr>배경</vt:lpstr>
      <vt:lpstr>RNN의 단점(장거리 의존성)</vt:lpstr>
      <vt:lpstr>Transformer 등장</vt:lpstr>
      <vt:lpstr>Transfomer의 구조</vt:lpstr>
      <vt:lpstr>Encoder</vt:lpstr>
      <vt:lpstr>Decoder</vt:lpstr>
      <vt:lpstr>  </vt:lpstr>
      <vt:lpstr>Self-Attention</vt:lpstr>
      <vt:lpstr>Scaled Dot-Product Attention</vt:lpstr>
      <vt:lpstr>Scaled Dot-Product Attention</vt:lpstr>
      <vt:lpstr>Multi-Head Attention</vt:lpstr>
      <vt:lpstr>Position-wise FeedForword Network</vt:lpstr>
      <vt:lpstr>Positional Encoding</vt:lpstr>
      <vt:lpstr>Why self-attention?</vt:lpstr>
      <vt:lpstr>Why self-attention?</vt:lpstr>
      <vt:lpstr>Why self-attention?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이정한(2021150028)</dc:creator>
  <cp:lastModifiedBy>이정한(2021150028)</cp:lastModifiedBy>
  <cp:revision>2</cp:revision>
  <dcterms:created xsi:type="dcterms:W3CDTF">2025-05-09T15:57:50Z</dcterms:created>
  <dcterms:modified xsi:type="dcterms:W3CDTF">2025-05-10T09:22:08Z</dcterms:modified>
</cp:coreProperties>
</file>