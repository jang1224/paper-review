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62" r:id="rId7"/>
    <p:sldId id="258" r:id="rId8"/>
    <p:sldId id="259" r:id="rId9"/>
    <p:sldId id="260" r:id="rId10"/>
    <p:sldId id="266" r:id="rId11"/>
    <p:sldId id="265" r:id="rId12"/>
    <p:sldId id="263" r:id="rId13"/>
    <p:sldId id="261" r:id="rId14"/>
    <p:sldId id="264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F17D69-ABCC-4B44-AA0D-2E08E7F29799}" v="20" dt="2025-07-15T21:09:19.1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6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A38854-26AC-47EA-BD3B-12F2E5211722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D6E4C-CF06-42F8-A732-263E3042E0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0239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IR-SDE : Image Restoration with Mean-Reverting Stochastic Differential Equations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약자로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복원을 위해 고안된 확률미분방정식 기반 모델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171450" marR="0" lvl="0" indent="-17145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2871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𝜃𝑡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따른 평균 회귀 속도</a:t>
            </a:r>
          </a:p>
          <a:p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확률적 변동성을 나타내는 양수 함수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일반적으로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 커질수록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확산 효과가 강해지고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분포의 분산이 커짐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𝑑𝑤𝑡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Ito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위너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프로세스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순수한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가우시안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노이즈의 무한히 작은 증분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2100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첫째항은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얼마나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그리고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얼만큼의 속도로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𝜇쪽으로 이동할지를 결정해줌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둘째항은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정확히 어떤 방향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으로 노이즈를 제거해야 할지를 알려줌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763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원래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Forward SDE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만들어진 분포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pt(x)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직접 다루기 어렵게 때문에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다음과 같은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Reparameterization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공식을 사용함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![5](</a:t>
            </a:r>
            <a:r>
              <a:rPr lang="en-US" altLang="ko-KR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./images/5.png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표본화하고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이를 바탕으로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![7](</a:t>
            </a:r>
            <a:r>
              <a:rPr lang="en-US" altLang="ko-KR" sz="1200" b="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./images/7.png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예측하도록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CNN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네트워크를 학습함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테스트 시에는 이 스코어 예측기를 활용해 역방향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SDE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시뮬레이션함으로써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LQ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이미지를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HQ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이미지로 복원함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9183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U‑Net</a:t>
            </a:r>
            <a:r>
              <a:rPr lang="ko-KR" altLang="en-US" dirty="0"/>
              <a:t>의 </a:t>
            </a:r>
            <a:r>
              <a:rPr lang="ko-KR" altLang="en-US" dirty="0" err="1"/>
              <a:t>스킵</a:t>
            </a:r>
            <a:r>
              <a:rPr lang="ko-KR" altLang="en-US" dirty="0"/>
              <a:t> 커넥션은 인코더와 </a:t>
            </a:r>
            <a:r>
              <a:rPr lang="ko-KR" altLang="en-US" dirty="0" err="1"/>
              <a:t>디코더</a:t>
            </a:r>
            <a:r>
              <a:rPr lang="ko-KR" altLang="en-US" dirty="0"/>
              <a:t> 사이에서 피처 </a:t>
            </a:r>
            <a:r>
              <a:rPr lang="ko-KR" altLang="en-US" dirty="0" err="1"/>
              <a:t>맵을</a:t>
            </a:r>
            <a:r>
              <a:rPr lang="ko-KR" altLang="en-US" dirty="0"/>
              <a:t> 직접 연결해 주기 때문에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잠재 공간에서 압축</a:t>
            </a:r>
            <a:r>
              <a:rPr lang="en-US" altLang="ko-KR" dirty="0"/>
              <a:t>·</a:t>
            </a:r>
            <a:r>
              <a:rPr lang="ko-KR" altLang="en-US" dirty="0"/>
              <a:t>변형되는 동안 손실되기 쉬운 </a:t>
            </a:r>
            <a:r>
              <a:rPr lang="ko-KR" altLang="en-US" b="1" dirty="0"/>
              <a:t>공간적 해상도 정보</a:t>
            </a:r>
            <a:r>
              <a:rPr lang="ko-KR" altLang="en-US" dirty="0"/>
              <a:t>를 보존해 줍니다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어떻게 연결해주냐</a:t>
            </a:r>
            <a:r>
              <a:rPr lang="en-US" altLang="ko-KR" dirty="0"/>
              <a:t>??</a:t>
            </a:r>
          </a:p>
          <a:p>
            <a:r>
              <a:rPr lang="en-US" altLang="ko-KR" dirty="0" err="1"/>
              <a:t>Hideen</a:t>
            </a:r>
            <a:r>
              <a:rPr lang="en-US" altLang="ko-KR" dirty="0"/>
              <a:t>-connections</a:t>
            </a:r>
            <a:r>
              <a:rPr lang="ko-KR" altLang="en-US" dirty="0"/>
              <a:t>은 만약에 인코더에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ko-KR" altLang="en-US" dirty="0" err="1"/>
              <a:t>다운샘플링</a:t>
            </a:r>
            <a:r>
              <a:rPr lang="ko-KR" altLang="en-US" dirty="0"/>
              <a:t> 블록이 있다면 이는 대칭을 </a:t>
            </a:r>
            <a:r>
              <a:rPr lang="ko-KR" altLang="en-US" dirty="0" err="1"/>
              <a:t>이루겠금</a:t>
            </a:r>
            <a:r>
              <a:rPr lang="ko-KR" altLang="en-US" dirty="0"/>
              <a:t> </a:t>
            </a:r>
            <a:r>
              <a:rPr lang="ko-KR" altLang="en-US" dirty="0" err="1"/>
              <a:t>디코더의</a:t>
            </a:r>
            <a:r>
              <a:rPr lang="ko-KR" altLang="en-US" dirty="0"/>
              <a:t> </a:t>
            </a:r>
            <a:r>
              <a:rPr lang="en-US" altLang="ko-KR" dirty="0"/>
              <a:t>4</a:t>
            </a:r>
            <a:r>
              <a:rPr lang="ko-KR" altLang="en-US" dirty="0"/>
              <a:t>개의 </a:t>
            </a:r>
            <a:r>
              <a:rPr lang="ko-KR" altLang="en-US" dirty="0" err="1"/>
              <a:t>업샘플링</a:t>
            </a:r>
            <a:r>
              <a:rPr lang="ko-KR" altLang="en-US" dirty="0"/>
              <a:t> 블록에 각 단계마다 </a:t>
            </a:r>
            <a:r>
              <a:rPr lang="en-US" altLang="ko-KR" dirty="0"/>
              <a:t>feature</a:t>
            </a:r>
            <a:r>
              <a:rPr lang="ko-KR" altLang="en-US" dirty="0"/>
              <a:t>를 전달해주는 구조입니다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HQ latent</a:t>
            </a:r>
            <a:r>
              <a:rPr lang="ko-KR" altLang="en-US" dirty="0"/>
              <a:t>만 있으면 “</a:t>
            </a:r>
            <a:r>
              <a:rPr lang="ko-KR" altLang="en-US" dirty="0" err="1"/>
              <a:t>깨끗해져야</a:t>
            </a:r>
            <a:r>
              <a:rPr lang="ko-KR" altLang="en-US" dirty="0"/>
              <a:t> 할 </a:t>
            </a:r>
            <a:r>
              <a:rPr lang="ko-KR" altLang="en-US" dirty="0" err="1"/>
              <a:t>모양”은</a:t>
            </a:r>
            <a:r>
              <a:rPr lang="ko-KR" altLang="en-US" dirty="0"/>
              <a:t> 알지만</a:t>
            </a:r>
            <a:r>
              <a:rPr lang="en-US" altLang="ko-KR" dirty="0"/>
              <a:t>, </a:t>
            </a:r>
            <a:r>
              <a:rPr lang="ko-KR" altLang="en-US" dirty="0"/>
              <a:t>구체적인 픽셀별 흐림 정도를 알기 어렵고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LQ hidden</a:t>
            </a:r>
            <a:r>
              <a:rPr lang="ko-KR" altLang="en-US" dirty="0"/>
              <a:t>만 있으면 “여기가 </a:t>
            </a:r>
            <a:r>
              <a:rPr lang="ko-KR" altLang="en-US" dirty="0" err="1"/>
              <a:t>흐리구나”는</a:t>
            </a:r>
            <a:r>
              <a:rPr lang="ko-KR" altLang="en-US" dirty="0"/>
              <a:t> 알지만</a:t>
            </a:r>
            <a:r>
              <a:rPr lang="en-US" altLang="ko-KR" dirty="0"/>
              <a:t>, “</a:t>
            </a:r>
            <a:r>
              <a:rPr lang="ko-KR" altLang="en-US" dirty="0"/>
              <a:t>최종에 어떤 깨끗한 </a:t>
            </a:r>
            <a:r>
              <a:rPr lang="ko-KR" altLang="en-US" dirty="0" err="1"/>
              <a:t>모습인지”는</a:t>
            </a:r>
            <a:r>
              <a:rPr lang="ko-KR" altLang="en-US" dirty="0"/>
              <a:t> 알기 힘들죠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둘을 섞어 주면</a:t>
            </a:r>
          </a:p>
          <a:p>
            <a:r>
              <a:rPr lang="ko-KR" altLang="en-US" b="1" dirty="0"/>
              <a:t>전역적 목표</a:t>
            </a:r>
            <a:r>
              <a:rPr lang="en-US" altLang="ko-KR" b="1" dirty="0"/>
              <a:t>, </a:t>
            </a:r>
            <a:r>
              <a:rPr lang="ko-KR" altLang="en-US" b="1" dirty="0"/>
              <a:t>손상 패턴 보존</a:t>
            </a:r>
            <a:r>
              <a:rPr lang="en-US" altLang="ko-KR" dirty="0"/>
              <a:t>(HQ latent)</a:t>
            </a:r>
          </a:p>
          <a:p>
            <a:r>
              <a:rPr lang="ko-KR" altLang="en-US" b="1" dirty="0"/>
              <a:t>국부적 제약</a:t>
            </a:r>
            <a:r>
              <a:rPr lang="en-US" altLang="ko-KR" b="1" dirty="0"/>
              <a:t>, </a:t>
            </a:r>
            <a:r>
              <a:rPr lang="ko-KR" altLang="en-US" b="1" dirty="0"/>
              <a:t>실제 손상 정보</a:t>
            </a:r>
            <a:r>
              <a:rPr lang="en-US" altLang="ko-KR" dirty="0"/>
              <a:t>(LQ hidden)</a:t>
            </a:r>
            <a:br>
              <a:rPr lang="en-US" altLang="ko-KR" dirty="0"/>
            </a:br>
            <a:r>
              <a:rPr lang="ko-KR" altLang="en-US" dirty="0"/>
              <a:t>을 동시에 만족하는 복원이 가능해집니다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88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본 논문에서의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Modified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NAFBlock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기존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NAFBlock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에 시간 조건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브랜치를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추가해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각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denoising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정보를 직접 반영하도록 확장함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사인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코사인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MLP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차원과 동일한 크기의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정보 벡터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생성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블록에서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맵과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채널별 곱셈으로 결합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endParaRPr lang="en-US" altLang="ko-KR" dirty="0"/>
          </a:p>
          <a:p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전통적으로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DM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예측 네트워크는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U-Net +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잔차블록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+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어텐션을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사용함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하지만 계산 비용을 줄이기 위해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본 논문은 비선형 활성화 제거 네트워크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NAFNet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블록을 확산의 기본 네트워크로 사용함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NAFBlock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은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SimpleGate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라는 채널 분할 후 곱셈 연산만으로 비선형성을 대체하고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레이어 정규화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1x1,3x3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컨볼루션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등을 조합한 구조임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altLang="ko-K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SimpleGate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: 1x1 Conv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3x3 Conv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등을 거쳐 채널이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배로 확장된 채널을 절반으로 나눈 뒤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두 하프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텐서를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element-wise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곱하여 비선형성을 도입함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SCA(Simplified Channel Attention) :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전역 평균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풀링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단일 선형 변환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-&gt;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채널별 스케일링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곱셈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과정을 거쳐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복잡한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Sigmoid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나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없이도 채널 중요도를 조절함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시간 </a:t>
            </a:r>
            <a:r>
              <a:rPr lang="ko-KR" alt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임베딩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정보는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MLP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를 거쳐 각 블록의 채널 단위 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scale-shift 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파라미터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(γ, β)</a:t>
            </a:r>
            <a:r>
              <a:rPr lang="ko-KR" alt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로 투영됨</a:t>
            </a:r>
            <a:r>
              <a:rPr lang="en-US" altLang="ko-K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371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PSNR </a:t>
            </a:r>
            <a:r>
              <a:rPr lang="ko-KR" altLang="en-US" dirty="0"/>
              <a:t>지표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2274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Task /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데이터셋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이미지 그림자 제거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NTIRE 2023 Shadow Removal Challenge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Bokeh Effect Transformation / NTIRE 2023 Bokeh Effect Transformation challenge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HR Non-Homogeneous Dehazing / NTIRE 2023 HR </a:t>
            </a:r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NonHomogeneous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Dehazing competition</a:t>
            </a:r>
          </a:p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구현 세부 사항</a:t>
            </a:r>
          </a:p>
          <a:p>
            <a:pPr lvl="1"/>
            <a:r>
              <a:rPr lang="en-US" altLang="ko-K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NAFNet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과 동일한 세팅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 size: 8</a:t>
            </a:r>
          </a:p>
          <a:p>
            <a:pPr lvl="1"/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학습 패치 크기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256×256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Optimizer: Lion (</a:t>
            </a:r>
            <a:r>
              <a:rPr lang="el-G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β1=0.9, β2=0.99)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Learning rate: 3×10−5 / cosine scheduler 10−7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Noise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레벨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 </a:t>
            </a:r>
            <a:r>
              <a:rPr lang="el-GR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σ=50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Diffusion step: 100</a:t>
            </a: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Augmentation: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랜덤 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horizontal flip, 90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도 회전</a:t>
            </a:r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LR Image :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저해상도 이미지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7669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“</a:t>
            </a:r>
            <a:r>
              <a:rPr lang="en-US" altLang="ko-KR" dirty="0"/>
              <a:t>Bokeh”(</a:t>
            </a:r>
            <a:r>
              <a:rPr lang="ko-KR" altLang="en-US" dirty="0"/>
              <a:t>보케</a:t>
            </a:r>
            <a:r>
              <a:rPr lang="en-US" altLang="ko-KR" dirty="0"/>
              <a:t>)</a:t>
            </a:r>
            <a:r>
              <a:rPr lang="ko-KR" altLang="en-US" dirty="0"/>
              <a:t>란 사진에서 </a:t>
            </a:r>
            <a:r>
              <a:rPr lang="ko-KR" altLang="en-US" b="1" dirty="0"/>
              <a:t>초점이 맞지 않은</a:t>
            </a:r>
            <a:r>
              <a:rPr lang="en-US" altLang="ko-KR" b="1" dirty="0"/>
              <a:t>(</a:t>
            </a:r>
            <a:r>
              <a:rPr lang="ko-KR" altLang="en-US" b="1" dirty="0" err="1"/>
              <a:t>아웃포커스된</a:t>
            </a:r>
            <a:r>
              <a:rPr lang="en-US" altLang="ko-KR" b="1" dirty="0"/>
              <a:t>) </a:t>
            </a:r>
            <a:r>
              <a:rPr lang="ko-KR" altLang="en-US" b="1" dirty="0"/>
              <a:t>배경이나 전경이 렌즈의 특성에 따라 부드럽고 구름 같은 흐림</a:t>
            </a:r>
            <a:r>
              <a:rPr lang="en-US" altLang="ko-KR" b="1" dirty="0"/>
              <a:t>(</a:t>
            </a:r>
            <a:r>
              <a:rPr lang="ko-KR" altLang="en-US" b="1" dirty="0" err="1"/>
              <a:t>블러</a:t>
            </a:r>
            <a:r>
              <a:rPr lang="en-US" altLang="ko-KR" b="1" dirty="0"/>
              <a:t>)</a:t>
            </a:r>
            <a:r>
              <a:rPr lang="ko-KR" altLang="en-US" b="1" dirty="0"/>
              <a:t>으로 표현되는 효과</a:t>
            </a:r>
            <a:r>
              <a:rPr lang="ko-KR" altLang="en-US" dirty="0"/>
              <a:t>를 가리키는 일본어 표현입니다</a:t>
            </a:r>
            <a:r>
              <a:rPr lang="en-US" altLang="ko-KR" dirty="0"/>
              <a:t>.</a:t>
            </a:r>
          </a:p>
          <a:p>
            <a:br>
              <a:rPr lang="en-US" altLang="ko-KR" dirty="0"/>
            </a:br>
            <a:r>
              <a:rPr lang="ko-KR" altLang="en-US" dirty="0"/>
              <a:t>맨 위는 </a:t>
            </a:r>
            <a:r>
              <a:rPr lang="en-US" altLang="ko-KR" dirty="0"/>
              <a:t>input, </a:t>
            </a:r>
            <a:r>
              <a:rPr lang="ko-KR" altLang="en-US" dirty="0"/>
              <a:t>가운데는 </a:t>
            </a:r>
            <a:r>
              <a:rPr lang="en-US" altLang="ko-KR" dirty="0" err="1"/>
              <a:t>restormer</a:t>
            </a:r>
            <a:r>
              <a:rPr lang="ko-KR" altLang="en-US" dirty="0"/>
              <a:t>의 결과</a:t>
            </a:r>
            <a:r>
              <a:rPr lang="en-US" altLang="ko-KR" dirty="0"/>
              <a:t>, </a:t>
            </a:r>
            <a:r>
              <a:rPr lang="ko-KR" altLang="en-US" dirty="0"/>
              <a:t>맨 아래는 </a:t>
            </a:r>
            <a:r>
              <a:rPr lang="en-US" altLang="ko-KR" dirty="0"/>
              <a:t>refusion</a:t>
            </a:r>
            <a:r>
              <a:rPr lang="ko-KR" altLang="en-US" dirty="0"/>
              <a:t>의 결과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Flops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모델이 한 입력</a:t>
            </a:r>
            <a:r>
              <a:rPr lang="en-US" altLang="ko-KR" dirty="0"/>
              <a:t>(</a:t>
            </a:r>
            <a:r>
              <a:rPr lang="ko-KR" altLang="en-US" dirty="0"/>
              <a:t>사진 </a:t>
            </a:r>
            <a:r>
              <a:rPr lang="ko-KR" altLang="en-US" dirty="0" err="1"/>
              <a:t>한장</a:t>
            </a:r>
            <a:r>
              <a:rPr lang="en-US" altLang="ko-KR" dirty="0"/>
              <a:t>)</a:t>
            </a:r>
            <a:r>
              <a:rPr lang="ko-KR" altLang="en-US" dirty="0"/>
              <a:t>을 처리할 때 수행하는 부동소수점 연산</a:t>
            </a:r>
            <a:r>
              <a:rPr lang="en-US" altLang="ko-KR" dirty="0"/>
              <a:t>(</a:t>
            </a:r>
            <a:r>
              <a:rPr lang="ko-KR" altLang="en-US" dirty="0"/>
              <a:t>덧셈</a:t>
            </a:r>
            <a:r>
              <a:rPr lang="en-US" altLang="ko-KR" dirty="0"/>
              <a:t>, </a:t>
            </a:r>
            <a:r>
              <a:rPr lang="ko-KR" altLang="en-US" dirty="0"/>
              <a:t>곱셈</a:t>
            </a:r>
            <a:r>
              <a:rPr lang="en-US" altLang="ko-KR" dirty="0"/>
              <a:t>)</a:t>
            </a:r>
            <a:r>
              <a:rPr lang="ko-KR" altLang="en-US" dirty="0"/>
              <a:t>의 총 횟수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FD6E4C-CF06-42F8-A732-263E3042E000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0053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5E4E9-E6B2-3E3F-B3D4-34D589815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BF3ED0-037A-A70D-4A8A-F9468D8EB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E7CB54A-7438-1813-92CA-115EA9BC8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B5C4F13-4A76-D014-AB19-2E2BF246B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1AE74-582F-7C8B-E966-591881F5B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8162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9821B2-F9AF-A842-3233-50B32A54D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448E59-6060-9077-4997-30A6519D0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E39945-8524-2B8E-3462-A9A298B5F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5F0DE-C8A2-91BF-B498-B86D55B99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128152-C826-4E0F-C2EA-ED1B57EC1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606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A924F6-1FE5-5FDC-03A3-E75CA625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7575D3B-34AB-BBE7-F2CE-15B545B91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3CCC5E-2717-BD4B-BD97-7AFF6EA8B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DC8A4F-13CD-2958-FA06-29CD60F44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8CF64BF-A6C3-6A65-B479-D5061C5D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006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11DD6-437D-DC21-FE97-48D39B27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9A4997-2D95-71C0-3583-BA07E817E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C070E22-67CD-2AD2-CCC4-190C0CCF1A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AE07D0-B6B9-75BA-3510-0D965944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6D5DDF-21E0-8A3F-3F3C-B038FE10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38F50C-A47C-0C91-FF74-BCBE48C4B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135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FF2C8D-2C95-9990-7C80-459CEC58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BB8B4D4-8A56-8FB5-EFA5-24EDB3F7F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AA35AF-A14D-AE0C-82F5-F210A714A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A8423FF-6780-4E03-EA2F-43CB6FABED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C7824E9-7DA3-31ED-6E24-19A6B2BF8E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F0BFAF4-C191-419F-8925-31AA2F12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0224691-11B4-C7F7-2766-E81EF2F68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E786552-F836-F26F-5300-9BA1DBC2E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2353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86388-92D1-EB62-CA2A-C4ED47B6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42A82CC-7724-1D58-8C8E-E93871E51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B56A544-B813-6C0D-C5A6-A6637821D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E7DBED-D43D-A757-2705-E1B5542CC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644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21878CC-F812-87D7-9E4C-EF749CE1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0620B3-2FE9-D157-0F66-ECACDBFBE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6B4DEE-C135-6997-7337-6F14FC049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9061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9BBCD2-A48E-40B7-84B5-B3D1B1A23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FCDF3B-B9AC-0E83-6643-6CDDBF55F4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856D462-E2A5-A789-8430-CBEF24DAD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396365-193F-832A-DB93-6B3DBC89C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BD3991-8A73-490E-3E96-95EDCFC87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ABA4C4-2EC4-3E0E-0D5E-1B2D7659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5722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6CFC40-CF36-C75B-6846-3C52DFDAA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57626A6-B14B-4B80-5776-C744B5386E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6D2C6E-143B-6959-0518-3614B3D4DC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0ED46C-C8F2-05FA-1490-E0498F566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46010F-FC9A-778C-0473-BDB1B06F2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BAFACBF-701F-584A-F6AB-0459535B1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0806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81B354-AD04-C24D-644C-2BEB4F21D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0CC540-085D-6BA1-EADC-1DA0B34D6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A6EC0A-71E8-F452-E6CE-5D23237C2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C8B563-E3DA-6A77-DDCD-B785CDAED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7038F3-D3C2-80EC-20BA-C7662CDE1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21165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B97F5B-4521-76A7-B5C1-A905169FC4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7D6045B-E81B-9156-17C7-BE9849BB00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1F8666-D1F1-CB9F-DE6D-82EB6667C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414AACD-2DE4-EDD7-7713-46D1A16A5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B23F18-5FA1-9EAB-FC3C-B431A38F3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7203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9B4EFF6-436C-AFF3-BD37-6D190342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43937B9-159E-3F11-9F58-DDDE49F81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1E03F00-4F79-ED9F-439E-CAF5A4DB1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A188C-ADF1-4BD0-B1B2-2F405FD1D980}" type="datetimeFigureOut">
              <a:rPr lang="ko-KR" altLang="en-US" smtClean="0"/>
              <a:t>2025-07-16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681CCE-520C-8A59-7304-E4747E596E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CBDD490-5670-E3FA-0F2E-54B202DAA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0B990D-D6A0-4156-BE53-824399EE1A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504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B3E2CB-1489-9B03-3068-A5AC76DD77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6746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ko-KR" sz="4000" dirty="0"/>
              <a:t>Refusion: Enabling Large-Size Realistic Image Restoration with Latent-Space Diffusion Models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F5A6B1-0932-54AF-52C2-B4D82EC93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5439"/>
            <a:ext cx="9144000" cy="742360"/>
          </a:xfrm>
        </p:spPr>
        <p:txBody>
          <a:bodyPr/>
          <a:lstStyle/>
          <a:p>
            <a:r>
              <a:rPr lang="en-US" altLang="ko-KR"/>
              <a:t>2022158034 </a:t>
            </a:r>
            <a:r>
              <a:rPr lang="ko-KR" altLang="en-US" dirty="0"/>
              <a:t>조장혁</a:t>
            </a:r>
          </a:p>
        </p:txBody>
      </p:sp>
    </p:spTree>
    <p:extLst>
      <p:ext uri="{BB962C8B-B14F-4D97-AF65-F5344CB8AC3E}">
        <p14:creationId xmlns:p14="http://schemas.microsoft.com/office/powerpoint/2010/main" val="1615805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8959B5-EEEA-FD15-4403-76B215458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F028DE-0977-B08E-2205-BBFFB1720F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 </a:t>
            </a:r>
            <a:r>
              <a:rPr lang="en-US" altLang="ko-KR" dirty="0"/>
              <a:t>DM</a:t>
            </a:r>
            <a:r>
              <a:rPr lang="ko-KR" altLang="en-US" dirty="0"/>
              <a:t>은 순수 노이즈로 이뤄진 이미지를 샘플링한 뒤 </a:t>
            </a:r>
            <a:r>
              <a:rPr lang="en-US" altLang="ko-KR" dirty="0"/>
              <a:t>SDE</a:t>
            </a:r>
            <a:r>
              <a:rPr lang="ko-KR" altLang="en-US" dirty="0"/>
              <a:t>를 통해 점진적으로 </a:t>
            </a:r>
            <a:r>
              <a:rPr lang="ko-KR" altLang="en-US" dirty="0" err="1"/>
              <a:t>디노이징하는</a:t>
            </a:r>
            <a:r>
              <a:rPr lang="ko-KR" altLang="en-US" dirty="0"/>
              <a:t> 방식으로 매우 높은 품질의 결과를 생성할 수 있음</a:t>
            </a:r>
            <a:r>
              <a:rPr lang="en-US" altLang="ko-KR" dirty="0"/>
              <a:t>. </a:t>
            </a:r>
            <a:r>
              <a:rPr lang="ko-KR" altLang="en-US" dirty="0"/>
              <a:t>그러나 일반적인 이미지 복원 과제 여전히 힘듦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-&gt; IR-SDE</a:t>
            </a:r>
            <a:r>
              <a:rPr lang="ko-KR" altLang="en-US" dirty="0"/>
              <a:t>로 복원 과제 수행할 수 있지만</a:t>
            </a:r>
            <a:r>
              <a:rPr lang="en-US" altLang="ko-KR" dirty="0"/>
              <a:t>, </a:t>
            </a:r>
            <a:r>
              <a:rPr lang="ko-KR" altLang="en-US" dirty="0"/>
              <a:t>테스트 시 고해상도 전체 이미지에 대해 다단계 </a:t>
            </a:r>
            <a:r>
              <a:rPr lang="ko-KR" altLang="en-US" dirty="0" err="1"/>
              <a:t>디노이징을</a:t>
            </a:r>
            <a:r>
              <a:rPr lang="ko-KR" altLang="en-US" dirty="0"/>
              <a:t> 수행해야 하므로 계산 비용이 큼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82239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5FEC4-C11A-2EB2-9B1D-0716FA55C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49B9AE-59DD-21AF-53C5-97805CA83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IR-SDE </a:t>
            </a:r>
            <a:r>
              <a:rPr lang="ko-KR" altLang="en-US" dirty="0"/>
              <a:t>기반으로</a:t>
            </a:r>
            <a:r>
              <a:rPr lang="en-US" altLang="ko-KR" dirty="0"/>
              <a:t>, </a:t>
            </a:r>
            <a:r>
              <a:rPr lang="en-US" altLang="ko-KR" dirty="0" err="1"/>
              <a:t>NAFNet</a:t>
            </a:r>
            <a:r>
              <a:rPr lang="en-US" altLang="ko-KR" dirty="0"/>
              <a:t> </a:t>
            </a:r>
            <a:r>
              <a:rPr lang="ko-KR" altLang="en-US" dirty="0"/>
              <a:t>블록 사용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하이퍼파라미터</a:t>
            </a:r>
            <a:r>
              <a:rPr lang="ko-KR" altLang="en-US" dirty="0"/>
              <a:t> 체계적으로 재조정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Skip</a:t>
            </a:r>
            <a:r>
              <a:rPr lang="ko-KR" altLang="en-US" dirty="0"/>
              <a:t> </a:t>
            </a:r>
            <a:r>
              <a:rPr lang="en-US" altLang="ko-KR" dirty="0"/>
              <a:t>connections</a:t>
            </a:r>
            <a:r>
              <a:rPr lang="ko-KR" altLang="en-US" dirty="0"/>
              <a:t>으로 </a:t>
            </a:r>
            <a:r>
              <a:rPr lang="en-US" altLang="ko-KR" dirty="0"/>
              <a:t>latent </a:t>
            </a:r>
            <a:r>
              <a:rPr lang="ko-KR" altLang="en-US" dirty="0"/>
              <a:t>공간에서 고해상도로 복원을 수행할 때</a:t>
            </a:r>
            <a:r>
              <a:rPr lang="en-US" altLang="ko-KR" dirty="0"/>
              <a:t>, </a:t>
            </a:r>
            <a:r>
              <a:rPr lang="ko-KR" altLang="en-US" dirty="0"/>
              <a:t>고해상도 정보를 보존</a:t>
            </a:r>
          </a:p>
        </p:txBody>
      </p:sp>
    </p:spTree>
    <p:extLst>
      <p:ext uri="{BB962C8B-B14F-4D97-AF65-F5344CB8AC3E}">
        <p14:creationId xmlns:p14="http://schemas.microsoft.com/office/powerpoint/2010/main" val="1734493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97E496-E7DF-9388-946C-DD0217D0C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SDE</a:t>
            </a:r>
            <a:r>
              <a:rPr lang="ko-KR" altLang="en-US" dirty="0"/>
              <a:t> 과정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63DFEA94-5DBC-2815-D5AF-78EE55526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1088" y="2194909"/>
            <a:ext cx="5260487" cy="847843"/>
          </a:xfrm>
        </p:spPr>
      </p:pic>
      <p:pic>
        <p:nvPicPr>
          <p:cNvPr id="7" name="그림 6" descr="폰트, 스크린샷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490EA4B-84E4-4EA5-6E95-2851EF1DD8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2073" y="4442348"/>
            <a:ext cx="5019502" cy="86913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3985A9B-F1C0-7191-6D88-66BEE58DC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1611" y="3447220"/>
            <a:ext cx="2619443" cy="590660"/>
          </a:xfrm>
          <a:prstGeom prst="rect">
            <a:avLst/>
          </a:prstGeom>
        </p:spPr>
      </p:pic>
      <p:pic>
        <p:nvPicPr>
          <p:cNvPr id="17" name="그림 16" descr="텍스트, 스크린샷, 개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225361-B686-2729-5AAC-2A425F4D1A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96" r="37636"/>
          <a:stretch>
            <a:fillRect/>
          </a:stretch>
        </p:blipFill>
        <p:spPr>
          <a:xfrm>
            <a:off x="274728" y="1627757"/>
            <a:ext cx="6606360" cy="482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629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9DBF0-B1F4-9A6B-443F-0EC1FE78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Reverse SDE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36BA25-365A-75AF-E1ED-6AA4E0319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1251"/>
            <a:ext cx="10515600" cy="4351338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046C02E-A125-DC8D-1251-4E7D0274FC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7376" y="2426816"/>
            <a:ext cx="6377247" cy="724330"/>
          </a:xfrm>
          <a:prstGeom prst="rect">
            <a:avLst/>
          </a:prstGeom>
        </p:spPr>
      </p:pic>
      <p:pic>
        <p:nvPicPr>
          <p:cNvPr id="11" name="그림 10" descr="폰트, 스크린샷, 라인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88290B-416A-871F-6129-0DB8160611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41" y="3379832"/>
            <a:ext cx="5638915" cy="120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75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A8F58-B551-F330-2860-BFE5ACF0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Reparameterization</a:t>
            </a:r>
            <a:endParaRPr lang="ko-KR" altLang="en-US" dirty="0"/>
          </a:p>
        </p:txBody>
      </p:sp>
      <p:pic>
        <p:nvPicPr>
          <p:cNvPr id="13" name="내용 개체 틀 12">
            <a:extLst>
              <a:ext uri="{FF2B5EF4-FFF2-40B4-BE49-F238E27FC236}">
                <a16:creationId xmlns:a16="http://schemas.microsoft.com/office/drawing/2014/main" id="{F123AAE7-780B-8E86-A626-BED7B1EDD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842" y="3986638"/>
            <a:ext cx="4882315" cy="81811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7DDFB6B-D33A-840B-F4FE-CA8C625DA0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924" y="2462304"/>
            <a:ext cx="7084150" cy="81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4978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D4D51-65BE-2D42-B12D-09F588149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Hidden-Connections</a:t>
            </a:r>
            <a:endParaRPr lang="ko-KR" altLang="en-US" dirty="0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B48D634F-4999-5620-4C8F-DDF558EFF0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324118" y="2448307"/>
            <a:ext cx="5125165" cy="3248478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55ED087-D59F-9B34-2D4F-09FBC7DF9C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14" y="2906097"/>
            <a:ext cx="5096586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785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40F0B-824F-617C-FA49-B3487259A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Modified </a:t>
            </a:r>
            <a:r>
              <a:rPr lang="en-US" altLang="ko-KR" dirty="0" err="1"/>
              <a:t>NAFBlock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E669A7-F13B-AA88-F2CE-567D520F10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BE64F36-43F8-F1C1-82FB-B266D1E67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445" y="2043965"/>
            <a:ext cx="3477110" cy="374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5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3B5D57-84C2-B14B-5138-7E13AEB3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하이퍼파라미터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E33066-7F5E-B87A-A587-F98EE4910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4E1524-3332-ED0F-9F78-2F3F7695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387" y="2481093"/>
            <a:ext cx="10393225" cy="242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84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286C54-859A-B555-AE88-1BECEF00B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2311E0B-09A1-B011-3662-B1BE891A20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956876" y="4615559"/>
            <a:ext cx="5534797" cy="1400370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844EAFB-EC7A-8677-72D3-E504F02C96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876" y="1510124"/>
            <a:ext cx="4418715" cy="310543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74E226E-6AF9-22CC-9482-877AC1702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2723" y="4501663"/>
            <a:ext cx="5363027" cy="151426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FB4D6E5-72ED-45AA-43AD-74D44E7D4E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5240" y="1821461"/>
            <a:ext cx="6511035" cy="2482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951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93AC6B-4BE9-AD54-C642-1A2C71E19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893DE55-55AD-06B5-6E23-93EEDB878B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80678" y="4620323"/>
            <a:ext cx="4972744" cy="1371791"/>
          </a:xfr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FF2C162-592A-5824-F878-95F96849E0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78" y="2186877"/>
            <a:ext cx="5327106" cy="21699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0B6FEAB-8CA3-24D2-F574-F0858D66C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4231" y="2468169"/>
            <a:ext cx="6141069" cy="181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268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05DA294FFD5784787D5AB72E0DED182" ma:contentTypeVersion="5" ma:contentTypeDescription="새 문서를 만듭니다." ma:contentTypeScope="" ma:versionID="1947bb15c4f475d9e28fdf681c448344">
  <xsd:schema xmlns:xsd="http://www.w3.org/2001/XMLSchema" xmlns:xs="http://www.w3.org/2001/XMLSchema" xmlns:p="http://schemas.microsoft.com/office/2006/metadata/properties" xmlns:ns3="9355d4e4-c342-4770-8d34-c37815e2beaf" targetNamespace="http://schemas.microsoft.com/office/2006/metadata/properties" ma:root="true" ma:fieldsID="2e81d29a5cf4b8812fd158f7b17e1b60" ns3:_="">
    <xsd:import namespace="9355d4e4-c342-4770-8d34-c37815e2bea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5d4e4-c342-4770-8d34-c37815e2be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89EA70C-06E3-4C5D-8285-3D4D509AFF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CA7D8C-9D8F-4D45-B8C6-7903A815CE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355d4e4-c342-4770-8d34-c37815e2be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5A493DD-E434-4067-8A3A-040E120CEDD7}">
  <ds:schemaRefs>
    <ds:schemaRef ds:uri="http://purl.org/dc/dcmitype/"/>
    <ds:schemaRef ds:uri="http://purl.org/dc/terms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355d4e4-c342-4770-8d34-c37815e2beaf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748</Words>
  <Application>Microsoft Office PowerPoint</Application>
  <PresentationFormat>와이드스크린</PresentationFormat>
  <Paragraphs>73</Paragraphs>
  <Slides>11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Refusion: Enabling Large-Size Realistic Image Restoration with Latent-Space Diffusion Models</vt:lpstr>
      <vt:lpstr>문제점</vt:lpstr>
      <vt:lpstr>아이디어</vt:lpstr>
      <vt:lpstr>SDE 과정</vt:lpstr>
      <vt:lpstr>Reverse SDE</vt:lpstr>
      <vt:lpstr>Reparameterization</vt:lpstr>
      <vt:lpstr>Hidden-Connections</vt:lpstr>
      <vt:lpstr>Modified NAFBlock</vt:lpstr>
      <vt:lpstr>하이퍼파라미터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조장혁(2022158034)</dc:creator>
  <cp:lastModifiedBy>조장혁(2022158034)</cp:lastModifiedBy>
  <cp:revision>2</cp:revision>
  <dcterms:created xsi:type="dcterms:W3CDTF">2025-07-15T18:40:33Z</dcterms:created>
  <dcterms:modified xsi:type="dcterms:W3CDTF">2025-07-16T06:03:51Z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0x010100E05DA294FFD5784787D5AB72E0DED182</vt:lpwstr>
  </property>
</Properties>
</file>